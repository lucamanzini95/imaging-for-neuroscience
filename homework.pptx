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Roboto"/>
      <p:regular r:id="rId15"/>
      <p:bold r:id="rId16"/>
      <p:italic r:id="rId17"/>
      <p:boldItalic r:id="rId18"/>
    </p:embeddedFont>
    <p:embeddedFont>
      <p:font typeface="Helvetica Neue"/>
      <p:regular r:id="rId19"/>
      <p:bold r:id="rId20"/>
      <p:italic r:id="rId21"/>
      <p:boldItalic r:id="rId22"/>
    </p:embeddedFont>
    <p:embeddedFont>
      <p:font typeface="Helvetica Neue Ligh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4Vgl5iZDoe41FS+01RTll/Lxd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lveticaNeue-bold.fntdata"/><Relationship Id="rId22" Type="http://schemas.openxmlformats.org/officeDocument/2006/relationships/font" Target="fonts/HelveticaNeue-boldItalic.fntdata"/><Relationship Id="rId21" Type="http://schemas.openxmlformats.org/officeDocument/2006/relationships/font" Target="fonts/HelveticaNeue-italic.fntdata"/><Relationship Id="rId24" Type="http://schemas.openxmlformats.org/officeDocument/2006/relationships/font" Target="fonts/HelveticaNeueLight-bold.fntdata"/><Relationship Id="rId23" Type="http://schemas.openxmlformats.org/officeDocument/2006/relationships/font" Target="fonts/HelveticaNeueLigh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HelveticaNeueLight-boldItalic.fntdata"/><Relationship Id="rId25" Type="http://schemas.openxmlformats.org/officeDocument/2006/relationships/font" Target="fonts/HelveticaNeueLight-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oboto-regular.fntdata"/><Relationship Id="rId14" Type="http://schemas.openxmlformats.org/officeDocument/2006/relationships/slide" Target="slides/slide10.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HelveticaNeue-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Helvetica Neue"/>
              <a:buChar char="-"/>
            </a:pPr>
            <a:r>
              <a:rPr lang="en-US" sz="1200">
                <a:latin typeface="Helvetica Neue"/>
                <a:ea typeface="Helvetica Neue"/>
                <a:cs typeface="Helvetica Neue"/>
                <a:sym typeface="Helvetica Neue"/>
              </a:rPr>
              <a:t>Here: FC matrices for HC = old after  Fisher’s z-transformation: zFC  🡪 </a:t>
            </a:r>
            <a:r>
              <a:rPr lang="en-US" sz="1200">
                <a:highlight>
                  <a:srgbClr val="FFFF00"/>
                </a:highlight>
                <a:latin typeface="Helvetica Neue"/>
                <a:ea typeface="Helvetica Neue"/>
                <a:cs typeface="Helvetica Neue"/>
                <a:sym typeface="Helvetica Neue"/>
              </a:rPr>
              <a:t>for normalisation</a:t>
            </a:r>
            <a:endParaRPr/>
          </a:p>
          <a:p>
            <a:pPr indent="-171450" lvl="0" marL="171450" rtl="0" algn="l">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Labels: Parcels’ names: indicating brain networks</a:t>
            </a:r>
            <a:endParaRPr/>
          </a:p>
          <a:p>
            <a:pPr indent="-171450" lvl="0" marL="171450" rtl="0" algn="l">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Matrices computed by pearson correlation of each voxels’ time courses</a:t>
            </a:r>
            <a:endParaRPr/>
          </a:p>
          <a:p>
            <a:pPr indent="-95250" lvl="0" marL="171450" rtl="0" algn="l">
              <a:spcBef>
                <a:spcPts val="0"/>
              </a:spcBef>
              <a:spcAft>
                <a:spcPts val="0"/>
              </a:spcAft>
              <a:buClr>
                <a:schemeClr val="dk1"/>
              </a:buClr>
              <a:buSzPts val="1200"/>
              <a:buFont typeface="Calibri"/>
              <a:buNone/>
            </a:pPr>
            <a:r>
              <a:t/>
            </a:r>
            <a:endParaRPr sz="1200">
              <a:highlight>
                <a:srgbClr val="FFFF00"/>
              </a:highlight>
              <a:latin typeface="Helvetica Neue"/>
              <a:ea typeface="Helvetica Neue"/>
              <a:cs typeface="Helvetica Neue"/>
              <a:sym typeface="Helvetica Neue"/>
            </a:endParaRPr>
          </a:p>
          <a:p>
            <a:pPr indent="-171450" lvl="0" marL="171450" rtl="0" algn="l">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Red color: High correlation, yellow/green: in between , light/ normal blue low/no correlation, dark blue/black: inverse correlation</a:t>
            </a:r>
            <a:endParaRPr/>
          </a:p>
          <a:p>
            <a:pPr indent="0" lvl="0" marL="0" marR="0" rtl="0" algn="l">
              <a:lnSpc>
                <a:spcPct val="100000"/>
              </a:lnSpc>
              <a:spcBef>
                <a:spcPts val="0"/>
              </a:spcBef>
              <a:spcAft>
                <a:spcPts val="0"/>
              </a:spcAft>
              <a:buClr>
                <a:schemeClr val="dk1"/>
              </a:buClr>
              <a:buSzPts val="1200"/>
              <a:buFont typeface="Calibri"/>
              <a:buNone/>
            </a:pPr>
            <a:r>
              <a:t/>
            </a:r>
            <a:endParaRPr sz="1200">
              <a:highlight>
                <a:srgbClr val="FFFF00"/>
              </a:highlight>
              <a:latin typeface="Helvetica Neue"/>
              <a:ea typeface="Helvetica Neue"/>
              <a:cs typeface="Helvetica Neue"/>
              <a:sym typeface="Helvetica Neue"/>
            </a:endParaRPr>
          </a:p>
          <a:p>
            <a:pPr indent="-171450" lvl="0" marL="171450" marR="0" rtl="0" algn="l">
              <a:lnSpc>
                <a:spcPct val="100000"/>
              </a:lnSpc>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Subjects show different overall correlation between networks when comparing between the subjects but for all of them high correlation seen between the </a:t>
            </a:r>
            <a:endParaRPr/>
          </a:p>
          <a:p>
            <a:pPr indent="-171450" lvl="0" marL="171450" rtl="0" algn="l">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LH Somato motor- LH somato motor, </a:t>
            </a:r>
            <a:endParaRPr/>
          </a:p>
          <a:p>
            <a:pPr indent="-171450" lvl="0" marL="171450" marR="0" rtl="0" algn="l">
              <a:lnSpc>
                <a:spcPct val="100000"/>
              </a:lnSpc>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LH Somato motor- RH somato motor, </a:t>
            </a:r>
            <a:endParaRPr/>
          </a:p>
          <a:p>
            <a:pPr indent="-171450" lvl="0" marL="171450" marR="0" rtl="0" algn="l">
              <a:lnSpc>
                <a:spcPct val="100000"/>
              </a:lnSpc>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RH Somato motor- RH somato motor</a:t>
            </a:r>
            <a:endParaRPr/>
          </a:p>
          <a:p>
            <a:pPr indent="-95250" lvl="0" marL="171450" marR="0" rtl="0" algn="l">
              <a:lnSpc>
                <a:spcPct val="100000"/>
              </a:lnSpc>
              <a:spcBef>
                <a:spcPts val="0"/>
              </a:spcBef>
              <a:spcAft>
                <a:spcPts val="0"/>
              </a:spcAft>
              <a:buClr>
                <a:schemeClr val="dk1"/>
              </a:buClr>
              <a:buSzPts val="1200"/>
              <a:buFont typeface="Calibri"/>
              <a:buNone/>
            </a:pPr>
            <a:r>
              <a:t/>
            </a:r>
            <a:endParaRPr sz="1200">
              <a:highlight>
                <a:srgbClr val="FFFF00"/>
              </a:highlight>
              <a:latin typeface="Helvetica Neue"/>
              <a:ea typeface="Helvetica Neue"/>
              <a:cs typeface="Helvetica Neue"/>
              <a:sym typeface="Helvetica Neue"/>
            </a:endParaRPr>
          </a:p>
          <a:p>
            <a:pPr indent="-171450" lvl="0" marL="171450" marR="0" rtl="0" algn="l">
              <a:lnSpc>
                <a:spcPct val="100000"/>
              </a:lnSpc>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Also seen that correlation is in general higher within the networks (e.g LH vis x – LH vis y ) and between same networks but in the different hemisshpheres (e.g LH Somato motor- RH somato motor)</a:t>
            </a:r>
            <a:br>
              <a:rPr lang="en-US" sz="1200">
                <a:highlight>
                  <a:srgbClr val="FFFF00"/>
                </a:highlight>
                <a:latin typeface="Helvetica Neue"/>
                <a:ea typeface="Helvetica Neue"/>
                <a:cs typeface="Helvetica Neue"/>
                <a:sym typeface="Helvetica Neue"/>
              </a:rPr>
            </a:br>
            <a:r>
              <a:rPr lang="en-US" sz="1200">
                <a:highlight>
                  <a:srgbClr val="FFFF00"/>
                </a:highlight>
                <a:latin typeface="Helvetica Neue"/>
                <a:ea typeface="Helvetica Neue"/>
                <a:cs typeface="Helvetica Neue"/>
                <a:sym typeface="Helvetica Neue"/>
              </a:rPr>
              <a:t>🡪 Makes sense as networks and hemispeheres are connected </a:t>
            </a:r>
            <a:endParaRPr/>
          </a:p>
          <a:p>
            <a:pPr indent="-95250" lvl="0" marL="171450" marR="0" rtl="0" algn="l">
              <a:lnSpc>
                <a:spcPct val="100000"/>
              </a:lnSpc>
              <a:spcBef>
                <a:spcPts val="0"/>
              </a:spcBef>
              <a:spcAft>
                <a:spcPts val="0"/>
              </a:spcAft>
              <a:buClr>
                <a:schemeClr val="dk1"/>
              </a:buClr>
              <a:buSzPts val="1200"/>
              <a:buFont typeface="Calibri"/>
              <a:buNone/>
            </a:pPr>
            <a:r>
              <a:t/>
            </a:r>
            <a:endParaRPr sz="1200">
              <a:highlight>
                <a:srgbClr val="FFFF00"/>
              </a:highlight>
              <a:latin typeface="Helvetica Neue"/>
              <a:ea typeface="Helvetica Neue"/>
              <a:cs typeface="Helvetica Neue"/>
              <a:sym typeface="Helvetica Neue"/>
            </a:endParaRPr>
          </a:p>
          <a:p>
            <a:pPr indent="-171450" lvl="0" marL="171450" marR="0" rtl="0" algn="l">
              <a:lnSpc>
                <a:spcPct val="100000"/>
              </a:lnSpc>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 By the lighter ‘squares’ in the FCs, it is also visible which overall networks are more connected together ( e.g. LH visual – LH dorsalAttention)</a:t>
            </a:r>
            <a:endParaRPr/>
          </a:p>
          <a:p>
            <a:pPr indent="-171450" lvl="0" marL="171450" marR="0" rtl="0" algn="l">
              <a:lnSpc>
                <a:spcPct val="100000"/>
              </a:lnSpc>
              <a:spcBef>
                <a:spcPts val="0"/>
              </a:spcBef>
              <a:spcAft>
                <a:spcPts val="0"/>
              </a:spcAft>
              <a:buClr>
                <a:schemeClr val="dk1"/>
              </a:buClr>
              <a:buSzPts val="1200"/>
              <a:buFont typeface="Noto Sans Symbols"/>
              <a:buChar char="🡪"/>
            </a:pPr>
            <a:r>
              <a:rPr lang="en-US" sz="1200">
                <a:highlight>
                  <a:srgbClr val="FFFF00"/>
                </a:highlight>
                <a:latin typeface="Helvetica Neue"/>
                <a:ea typeface="Helvetica Neue"/>
                <a:cs typeface="Helvetica Neue"/>
                <a:sym typeface="Helvetica Neue"/>
              </a:rPr>
              <a:t>Subject 1: higher correlation between networks in general,</a:t>
            </a:r>
            <a:br>
              <a:rPr lang="en-US" sz="1200">
                <a:highlight>
                  <a:srgbClr val="FFFF00"/>
                </a:highlight>
                <a:latin typeface="Helvetica Neue"/>
                <a:ea typeface="Helvetica Neue"/>
                <a:cs typeface="Helvetica Neue"/>
                <a:sym typeface="Helvetica Neue"/>
              </a:rPr>
            </a:br>
            <a:r>
              <a:rPr lang="en-US" sz="1200">
                <a:highlight>
                  <a:srgbClr val="FFFF00"/>
                </a:highlight>
                <a:latin typeface="Helvetica Neue"/>
                <a:ea typeface="Helvetica Neue"/>
                <a:cs typeface="Helvetica Neue"/>
                <a:sym typeface="Helvetica Neue"/>
              </a:rPr>
              <a:t>                especially in LH default 4-0, LH cont – LH default, LH_limbic –LH default, RH dorsal attention – RH salventral attention, LH cont – RH default, LH default – RH default </a:t>
            </a:r>
            <a:endParaRPr/>
          </a:p>
          <a:p>
            <a:pPr indent="-95250" lvl="0" marL="171450" marR="0" rtl="0" algn="l">
              <a:lnSpc>
                <a:spcPct val="100000"/>
              </a:lnSpc>
              <a:spcBef>
                <a:spcPts val="0"/>
              </a:spcBef>
              <a:spcAft>
                <a:spcPts val="0"/>
              </a:spcAft>
              <a:buClr>
                <a:schemeClr val="dk1"/>
              </a:buClr>
              <a:buSzPts val="1200"/>
              <a:buFont typeface="Calibri"/>
              <a:buNone/>
            </a:pPr>
            <a:r>
              <a:t/>
            </a:r>
            <a:endParaRPr sz="1200">
              <a:highlight>
                <a:srgbClr val="FFFF00"/>
              </a:highlight>
              <a:latin typeface="Helvetica Neue"/>
              <a:ea typeface="Helvetica Neue"/>
              <a:cs typeface="Helvetica Neue"/>
              <a:sym typeface="Helvetica Neue"/>
            </a:endParaRPr>
          </a:p>
          <a:p>
            <a:pPr indent="-171450" lvl="0" marL="171450" rtl="0" algn="l">
              <a:spcBef>
                <a:spcPts val="0"/>
              </a:spcBef>
              <a:spcAft>
                <a:spcPts val="0"/>
              </a:spcAft>
              <a:buClr>
                <a:schemeClr val="dk1"/>
              </a:buClr>
              <a:buSzPts val="1200"/>
              <a:buFont typeface="Calibri"/>
              <a:buChar char="-"/>
            </a:pPr>
            <a:r>
              <a:rPr lang="en-US">
                <a:highlight>
                  <a:srgbClr val="FFFF00"/>
                </a:highlight>
              </a:rPr>
              <a:t>In general lower correlation values for subject 5 and 6</a:t>
            </a:r>
            <a:endParaRPr/>
          </a:p>
          <a:p>
            <a:pPr indent="-95250" lvl="0" marL="171450" rtl="0" algn="l">
              <a:spcBef>
                <a:spcPts val="0"/>
              </a:spcBef>
              <a:spcAft>
                <a:spcPts val="0"/>
              </a:spcAft>
              <a:buClr>
                <a:schemeClr val="dk1"/>
              </a:buClr>
              <a:buSzPts val="1200"/>
              <a:buFont typeface="Calibri"/>
              <a:buNone/>
            </a:pPr>
            <a:r>
              <a:t/>
            </a:r>
            <a:endParaRPr>
              <a:highlight>
                <a:srgbClr val="FFFF00"/>
              </a:highlight>
            </a:endParaRPr>
          </a:p>
        </p:txBody>
      </p:sp>
      <p:sp>
        <p:nvSpPr>
          <p:cNvPr id="117" name="Google Shape;11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Helvetica Neue"/>
              <a:buChar char="-"/>
            </a:pPr>
            <a:r>
              <a:rPr lang="en-US" sz="1200">
                <a:latin typeface="Helvetica Neue"/>
                <a:ea typeface="Helvetica Neue"/>
                <a:cs typeface="Helvetica Neue"/>
                <a:sym typeface="Helvetica Neue"/>
              </a:rPr>
              <a:t>Here: FC matrices for HC = young after  Fisher’s z-transformation: zFC  🡪 </a:t>
            </a:r>
            <a:r>
              <a:rPr lang="en-US" sz="1200">
                <a:highlight>
                  <a:srgbClr val="FFFF00"/>
                </a:highlight>
                <a:latin typeface="Helvetica Neue"/>
                <a:ea typeface="Helvetica Neue"/>
                <a:cs typeface="Helvetica Neue"/>
                <a:sym typeface="Helvetica Neue"/>
              </a:rPr>
              <a:t>for normalisation!!! The Pearson correlation coefficient has a distribution that can be highly non-normal, especially for extreme values close to -1 or 1. The Fisher Z transformation makes the distribution of correlation coefficients more similar to a normal distribution, facilitating the application of statistical techniques that assume normality.</a:t>
            </a:r>
            <a:endParaRPr/>
          </a:p>
          <a:p>
            <a:pPr indent="-171450" lvl="0" marL="171450" rtl="0" algn="l">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Labels: Parcels’ names: indicating brain networks</a:t>
            </a:r>
            <a:endParaRPr/>
          </a:p>
          <a:p>
            <a:pPr indent="-171450" lvl="0" marL="171450" rtl="0" algn="l">
              <a:spcBef>
                <a:spcPts val="0"/>
              </a:spcBef>
              <a:spcAft>
                <a:spcPts val="0"/>
              </a:spcAft>
              <a:buClr>
                <a:schemeClr val="dk1"/>
              </a:buClr>
              <a:buSzPts val="1200"/>
              <a:buFont typeface="Helvetica Neue"/>
              <a:buChar char="-"/>
            </a:pPr>
            <a:r>
              <a:rPr lang="en-US" sz="1200">
                <a:highlight>
                  <a:srgbClr val="FFFF00"/>
                </a:highlight>
                <a:latin typeface="Helvetica Neue"/>
                <a:ea typeface="Helvetica Neue"/>
                <a:cs typeface="Helvetica Neue"/>
                <a:sym typeface="Helvetica Neue"/>
              </a:rPr>
              <a:t>Matrices computed by pearson correlation of each voxels’ time courses</a:t>
            </a:r>
            <a:endParaRPr/>
          </a:p>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Calibri"/>
              <a:buChar char="-"/>
            </a:pPr>
            <a:r>
              <a:rPr lang="en-US"/>
              <a:t>Also here higher correlation for subject 1 </a:t>
            </a:r>
            <a:endParaRPr/>
          </a:p>
          <a:p>
            <a:pPr indent="-171450" lvl="0" marL="171450" rtl="0" algn="l">
              <a:spcBef>
                <a:spcPts val="0"/>
              </a:spcBef>
              <a:spcAft>
                <a:spcPts val="0"/>
              </a:spcAft>
              <a:buClr>
                <a:schemeClr val="dk1"/>
              </a:buClr>
              <a:buSzPts val="1200"/>
              <a:buFont typeface="Calibri"/>
              <a:buChar char="-"/>
            </a:pPr>
            <a:r>
              <a:rPr lang="en-US"/>
              <a:t>In general, same results seen as for old HC but higher overall correlation, especially between default networks</a:t>
            </a:r>
            <a:br>
              <a:rPr lang="en-US"/>
            </a:br>
            <a:r>
              <a:rPr lang="en-US"/>
              <a:t>🡪 makes sense as old and young HC have probably different brain age: 🡪 differences in amount of gray matter (brain cells)</a:t>
            </a:r>
            <a:br>
              <a:rPr lang="en-US"/>
            </a:br>
            <a:r>
              <a:rPr lang="en-US"/>
              <a:t>🡪 therefore also subjects in  general different connectivity matrices </a:t>
            </a:r>
            <a:endParaRPr/>
          </a:p>
          <a:p>
            <a:pPr indent="-95250" lvl="0" marL="17145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Clr>
                <a:schemeClr val="dk1"/>
              </a:buClr>
              <a:buSzPts val="1200"/>
              <a:buFont typeface="Calibri"/>
              <a:buNone/>
            </a:pPr>
            <a:r>
              <a:t/>
            </a:r>
            <a:endParaRPr/>
          </a:p>
          <a:p>
            <a:pPr indent="-95250" lvl="0" marL="171450" rtl="0" algn="l">
              <a:spcBef>
                <a:spcPts val="0"/>
              </a:spcBef>
              <a:spcAft>
                <a:spcPts val="0"/>
              </a:spcAft>
              <a:buClr>
                <a:schemeClr val="dk1"/>
              </a:buClr>
              <a:buSzPts val="1200"/>
              <a:buFont typeface="Calibri"/>
              <a:buNone/>
            </a:pPr>
            <a:r>
              <a:t/>
            </a:r>
            <a:endParaRPr/>
          </a:p>
          <a:p>
            <a:pPr indent="-95250" lvl="0" marL="171450" rtl="0" algn="l">
              <a:spcBef>
                <a:spcPts val="0"/>
              </a:spcBef>
              <a:spcAft>
                <a:spcPts val="0"/>
              </a:spcAft>
              <a:buClr>
                <a:schemeClr val="dk1"/>
              </a:buClr>
              <a:buSzPts val="1200"/>
              <a:buFont typeface="Calibri"/>
              <a:buNone/>
            </a:pPr>
            <a:r>
              <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Calibri"/>
              <a:buChar char="-"/>
            </a:pPr>
            <a:r>
              <a:rPr lang="en-US" sz="1200"/>
              <a:t>hierarchical method: clustering tree</a:t>
            </a:r>
            <a:endParaRPr/>
          </a:p>
          <a:p>
            <a:pPr indent="-171450" lvl="0" marL="171450" rtl="0" algn="l">
              <a:spcBef>
                <a:spcPts val="0"/>
              </a:spcBef>
              <a:spcAft>
                <a:spcPts val="0"/>
              </a:spcAft>
              <a:buClr>
                <a:schemeClr val="dk1"/>
              </a:buClr>
              <a:buSzPts val="1200"/>
              <a:buFont typeface="Calibri"/>
              <a:buChar char="-"/>
            </a:pPr>
            <a:r>
              <a:rPr lang="en-US" sz="1200"/>
              <a:t>Euclidean distance metric:  ward method 🡪 use minimum variance as cluster criterion: only this method gave monotonous tree</a:t>
            </a:r>
            <a:endParaRPr/>
          </a:p>
          <a:p>
            <a:pPr indent="-171450" lvl="0" marL="171450" marR="0" rtl="0" algn="l">
              <a:lnSpc>
                <a:spcPct val="100000"/>
              </a:lnSpc>
              <a:spcBef>
                <a:spcPts val="0"/>
              </a:spcBef>
              <a:spcAft>
                <a:spcPts val="0"/>
              </a:spcAft>
              <a:buClr>
                <a:schemeClr val="dk1"/>
              </a:buClr>
              <a:buSzPts val="1200"/>
              <a:buFont typeface="Calibri"/>
              <a:buChar char="-"/>
            </a:pPr>
            <a:r>
              <a:rPr lang="en-US"/>
              <a:t>Nr. optimum clusters: shilouette approach used: mean of all values 🡪 how close is one point to points in same cluster and how far to points in other clusters  </a:t>
            </a:r>
            <a:endParaRPr/>
          </a:p>
          <a:p>
            <a:pPr indent="-95250" lvl="0" marL="171450" marR="0" rtl="0" algn="l">
              <a:lnSpc>
                <a:spcPct val="100000"/>
              </a:lnSpc>
              <a:spcBef>
                <a:spcPts val="0"/>
              </a:spcBef>
              <a:spcAft>
                <a:spcPts val="0"/>
              </a:spcAft>
              <a:buClr>
                <a:schemeClr val="dk1"/>
              </a:buClr>
              <a:buSzPts val="1200"/>
              <a:buFont typeface="Calibri"/>
              <a:buNone/>
            </a:pPr>
            <a:r>
              <a:t/>
            </a:r>
            <a:endParaRPr sz="1200"/>
          </a:p>
          <a:p>
            <a:pPr indent="-171450" lvl="0" marL="171450" marR="0" rtl="0" algn="l">
              <a:lnSpc>
                <a:spcPct val="100000"/>
              </a:lnSpc>
              <a:spcBef>
                <a:spcPts val="0"/>
              </a:spcBef>
              <a:spcAft>
                <a:spcPts val="0"/>
              </a:spcAft>
              <a:buClr>
                <a:schemeClr val="dk1"/>
              </a:buClr>
              <a:buSzPts val="1200"/>
              <a:buFont typeface="Calibri"/>
              <a:buChar char="-"/>
            </a:pPr>
            <a:r>
              <a:rPr lang="en-US" sz="1200"/>
              <a:t>Optimum nr.: K_Old = 5, K_Young = 5 🡪 local maximum (between rise and fall of shilouette value)</a:t>
            </a:r>
            <a:endParaRPr/>
          </a:p>
          <a:p>
            <a:pPr indent="0" lvl="0" marL="0" rtl="0" algn="l">
              <a:spcBef>
                <a:spcPts val="0"/>
              </a:spcBef>
              <a:spcAft>
                <a:spcPts val="0"/>
              </a:spcAft>
              <a:buClr>
                <a:schemeClr val="dk1"/>
              </a:buClr>
              <a:buSzPts val="1200"/>
              <a:buFont typeface="Calibri"/>
              <a:buNone/>
            </a:pPr>
            <a:r>
              <a:rPr lang="en-US"/>
              <a:t>-</a:t>
            </a:r>
            <a:endParaRPr/>
          </a:p>
        </p:txBody>
      </p:sp>
      <p:sp>
        <p:nvSpPr>
          <p:cNvPr id="141" name="Google Shape;14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Calibri"/>
              <a:buChar char="-"/>
            </a:pPr>
            <a:r>
              <a:rPr lang="en-US"/>
              <a:t>Plot shows how much time participants spent in the different stages (represented by the clusters)</a:t>
            </a:r>
            <a:endParaRPr/>
          </a:p>
          <a:p>
            <a:pPr indent="-95250" lvl="0" marL="171450" rtl="0" algn="l">
              <a:spcBef>
                <a:spcPts val="0"/>
              </a:spcBef>
              <a:spcAft>
                <a:spcPts val="0"/>
              </a:spcAft>
              <a:buClr>
                <a:schemeClr val="dk1"/>
              </a:buClr>
              <a:buSzPts val="1200"/>
              <a:buFont typeface="Calibri"/>
              <a:buNone/>
            </a:pPr>
            <a:r>
              <a:t/>
            </a:r>
            <a:endParaRPr/>
          </a:p>
          <a:p>
            <a:pPr indent="-171450" lvl="0" marL="171450" rtl="0" algn="l">
              <a:spcBef>
                <a:spcPts val="0"/>
              </a:spcBef>
              <a:spcAft>
                <a:spcPts val="0"/>
              </a:spcAft>
              <a:buClr>
                <a:schemeClr val="dk1"/>
              </a:buClr>
              <a:buSzPts val="1200"/>
              <a:buFont typeface="Calibri"/>
              <a:buChar char="-"/>
            </a:pPr>
            <a:r>
              <a:rPr lang="en-US"/>
              <a:t>It is seen that for the young HC, cluster = stage 2 is present to a quite high amount in all subjects and also stage 4 and 5 are present often. In the old population it is more mixed.</a:t>
            </a:r>
            <a:br>
              <a:rPr lang="en-US"/>
            </a:br>
            <a:r>
              <a:rPr lang="en-US"/>
              <a:t>🡪 might show that young subjects e.g have kinda more of the the same networks connected over the time period as which is fitting to the higher correlation values of the static FC analysis </a:t>
            </a:r>
            <a:endParaRPr/>
          </a:p>
          <a:p>
            <a:pPr indent="-95250" lvl="0" marL="171450" rtl="0" algn="l">
              <a:spcBef>
                <a:spcPts val="0"/>
              </a:spcBef>
              <a:spcAft>
                <a:spcPts val="0"/>
              </a:spcAft>
              <a:buClr>
                <a:schemeClr val="dk1"/>
              </a:buClr>
              <a:buSzPts val="1200"/>
              <a:buFont typeface="Calibri"/>
              <a:buNone/>
            </a:pPr>
            <a:r>
              <a:t/>
            </a:r>
            <a:endParaRPr/>
          </a:p>
          <a:p>
            <a:pPr indent="-171450" lvl="0" marL="171450" rtl="0" algn="l">
              <a:spcBef>
                <a:spcPts val="0"/>
              </a:spcBef>
              <a:spcAft>
                <a:spcPts val="0"/>
              </a:spcAft>
              <a:buClr>
                <a:schemeClr val="dk1"/>
              </a:buClr>
              <a:buSzPts val="1200"/>
              <a:buFont typeface="Calibri"/>
              <a:buChar char="-"/>
            </a:pPr>
            <a:r>
              <a:rPr lang="en-US"/>
              <a:t>Old HC group more unstable in network connections: maybe some connections between brain areas not possible anymore?</a:t>
            </a: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t>- Adjacent matrix </a:t>
            </a:r>
            <a:r>
              <a:rPr b="1" lang="en-US" sz="1200"/>
              <a:t>A_Old + A_Young: </a:t>
            </a:r>
            <a:r>
              <a:rPr lang="en-US" sz="1200"/>
              <a:t>sparse matrix, one dim for each cluster (density reduced to 1 and 0, threshold = 75% highest positive values): indicating edges between nodes</a:t>
            </a:r>
            <a:endParaRPr/>
          </a:p>
          <a:p>
            <a:pPr indent="-171450" lvl="0" marL="171450" marR="0" rtl="0" algn="l">
              <a:lnSpc>
                <a:spcPct val="100000"/>
              </a:lnSpc>
              <a:spcBef>
                <a:spcPts val="0"/>
              </a:spcBef>
              <a:spcAft>
                <a:spcPts val="0"/>
              </a:spcAft>
              <a:buClr>
                <a:schemeClr val="dk1"/>
              </a:buClr>
              <a:buSzPts val="1200"/>
              <a:buFont typeface="Noto Sans Symbols"/>
              <a:buChar char="🡪"/>
            </a:pPr>
            <a:r>
              <a:rPr lang="en-US" sz="1200"/>
              <a:t>Saw differences in sparse connectivity matrix </a:t>
            </a:r>
            <a:endParaRPr/>
          </a:p>
          <a:p>
            <a:pPr indent="-171450" lvl="0" marL="171450" marR="0" rtl="0" algn="l">
              <a:lnSpc>
                <a:spcPct val="100000"/>
              </a:lnSpc>
              <a:spcBef>
                <a:spcPts val="0"/>
              </a:spcBef>
              <a:spcAft>
                <a:spcPts val="0"/>
              </a:spcAft>
              <a:buClr>
                <a:schemeClr val="dk1"/>
              </a:buClr>
              <a:buSzPts val="1200"/>
              <a:buFont typeface="Noto Sans Symbols"/>
              <a:buChar char="🡪"/>
            </a:pPr>
            <a:r>
              <a:rPr lang="en-US" sz="1200"/>
              <a:t>Can be seen also by looking at graphs: which nodes (parcel areas/networks) are connected to which others: differences between HC are seen in network connections</a:t>
            </a:r>
            <a:endParaRPr/>
          </a:p>
          <a:p>
            <a:pPr indent="-95250" lvl="0" marL="171450" marR="0" rtl="0" algn="l">
              <a:lnSpc>
                <a:spcPct val="100000"/>
              </a:lnSpc>
              <a:spcBef>
                <a:spcPts val="0"/>
              </a:spcBef>
              <a:spcAft>
                <a:spcPts val="0"/>
              </a:spcAft>
              <a:buClr>
                <a:schemeClr val="dk1"/>
              </a:buClr>
              <a:buSzPts val="1200"/>
              <a:buFont typeface="Noto Sans Symbols"/>
              <a:buNone/>
            </a:pPr>
            <a:r>
              <a:t/>
            </a:r>
            <a:endParaRPr sz="1200"/>
          </a:p>
          <a:p>
            <a:pPr indent="0" lvl="0" marL="0" marR="0" rtl="0" algn="l">
              <a:lnSpc>
                <a:spcPct val="100000"/>
              </a:lnSpc>
              <a:spcBef>
                <a:spcPts val="0"/>
              </a:spcBef>
              <a:spcAft>
                <a:spcPts val="0"/>
              </a:spcAft>
              <a:buClr>
                <a:schemeClr val="dk1"/>
              </a:buClr>
              <a:buSzPts val="1200"/>
              <a:buFont typeface="Noto Sans Symbols"/>
              <a:buNone/>
            </a:pPr>
            <a:r>
              <a:rPr lang="en-US" sz="1200"/>
              <a:t>- Compare gradients to see differences between HC in grouping of the nodes 🡪 networks</a:t>
            </a:r>
            <a:endParaRPr/>
          </a:p>
          <a:p>
            <a:pPr indent="0" lvl="0" marL="0" rtl="0" algn="l">
              <a:spcBef>
                <a:spcPts val="0"/>
              </a:spcBef>
              <a:spcAft>
                <a:spcPts val="0"/>
              </a:spcAft>
              <a:buNone/>
            </a:pPr>
            <a:r>
              <a:t/>
            </a:r>
            <a:endParaRPr/>
          </a:p>
        </p:txBody>
      </p:sp>
      <p:sp>
        <p:nvSpPr>
          <p:cNvPr id="171" name="Google Shape;17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Plot shows </a:t>
            </a:r>
            <a:r>
              <a:rPr b="1" lang="en-US" sz="1200"/>
              <a:t>Dist_all : </a:t>
            </a:r>
            <a:r>
              <a:rPr lang="en-US" sz="1200"/>
              <a:t>Spearson corr. between Gradient_Old and Gradient_Young (first 5 entries old HC, last 5 young HC)</a:t>
            </a:r>
            <a:endParaRPr/>
          </a:p>
          <a:p>
            <a:pPr indent="-171450" lvl="0" marL="171450" rtl="0" algn="l">
              <a:spcBef>
                <a:spcPts val="0"/>
              </a:spcBef>
              <a:spcAft>
                <a:spcPts val="0"/>
              </a:spcAft>
              <a:buClr>
                <a:schemeClr val="dk1"/>
              </a:buClr>
              <a:buSzPts val="1200"/>
              <a:buFont typeface="Noto Sans Symbols"/>
              <a:buChar char="🡪"/>
            </a:pPr>
            <a:r>
              <a:rPr lang="en-US"/>
              <a:t>Correlation between stages of old and young HC</a:t>
            </a:r>
            <a:endParaRPr/>
          </a:p>
          <a:p>
            <a:pPr indent="-171450" lvl="0" marL="171450" rtl="0" algn="l">
              <a:spcBef>
                <a:spcPts val="0"/>
              </a:spcBef>
              <a:spcAft>
                <a:spcPts val="0"/>
              </a:spcAft>
              <a:buClr>
                <a:schemeClr val="dk1"/>
              </a:buClr>
              <a:buSzPts val="1200"/>
              <a:buFont typeface="Noto Sans Symbols"/>
              <a:buChar char="🡪"/>
            </a:pPr>
            <a:r>
              <a:rPr lang="en-US"/>
              <a:t>Use to measure whether stages resemble the stages in the other HC : </a:t>
            </a:r>
            <a:br>
              <a:rPr lang="en-US"/>
            </a:br>
            <a:r>
              <a:rPr lang="en-US"/>
              <a:t>1 = yellow: high correlation yes, resembles correlated state good, green/blue : low = 0: does not resemble other state , lower : -1dark blue: anti correlation</a:t>
            </a:r>
            <a:br>
              <a:rPr lang="en-US"/>
            </a:br>
            <a:endParaRPr/>
          </a:p>
          <a:p>
            <a:pPr indent="-171450" lvl="0" marL="171450" rtl="0" algn="l">
              <a:spcBef>
                <a:spcPts val="0"/>
              </a:spcBef>
              <a:spcAft>
                <a:spcPts val="0"/>
              </a:spcAft>
              <a:buClr>
                <a:schemeClr val="dk1"/>
              </a:buClr>
              <a:buSzPts val="1200"/>
              <a:buFont typeface="Calibri"/>
              <a:buChar char="-"/>
            </a:pPr>
            <a:r>
              <a:rPr lang="en-US"/>
              <a:t>Anti correlation shows the opposite behvaiour of a stae 🡪 so the lower the correlation value, the less resembles a state a correlated one</a:t>
            </a:r>
            <a:endParaRPr/>
          </a:p>
          <a:p>
            <a:pPr indent="-171450" lvl="0" marL="171450" rtl="0" algn="l">
              <a:spcBef>
                <a:spcPts val="0"/>
              </a:spcBef>
              <a:spcAft>
                <a:spcPts val="0"/>
              </a:spcAft>
              <a:buClr>
                <a:schemeClr val="dk1"/>
              </a:buClr>
              <a:buSzPts val="1200"/>
              <a:buFont typeface="Calibri"/>
              <a:buChar char="-"/>
            </a:pPr>
            <a:r>
              <a:rPr lang="en-US"/>
              <a:t>🡪 finding minimum correlation value (anti correlation shows that stae is doing the opposite)</a:t>
            </a:r>
            <a:endParaRPr/>
          </a:p>
        </p:txBody>
      </p:sp>
      <p:sp>
        <p:nvSpPr>
          <p:cNvPr id="188" name="Google Shape;1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0"/>
          <p:cNvSpPr/>
          <p:nvPr>
            <p:ph idx="2" type="pic"/>
          </p:nvPr>
        </p:nvSpPr>
        <p:spPr>
          <a:xfrm>
            <a:off x="5183188" y="987425"/>
            <a:ext cx="6172200" cy="4873625"/>
          </a:xfrm>
          <a:prstGeom prst="rect">
            <a:avLst/>
          </a:prstGeom>
          <a:noFill/>
          <a:ln>
            <a:noFill/>
          </a:ln>
        </p:spPr>
      </p:sp>
      <p:sp>
        <p:nvSpPr>
          <p:cNvPr id="68" name="Google Shape;68;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idx="1" type="subTitle"/>
          </p:nvPr>
        </p:nvSpPr>
        <p:spPr>
          <a:xfrm>
            <a:off x="5016500" y="2661004"/>
            <a:ext cx="3602306" cy="99929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t/>
            </a:r>
            <a:endParaRPr b="1" sz="2400">
              <a:solidFill>
                <a:schemeClr val="dk1"/>
              </a:solidFill>
            </a:endParaRPr>
          </a:p>
          <a:p>
            <a:pPr indent="0" lvl="0" marL="0" rtl="0" algn="l">
              <a:lnSpc>
                <a:spcPct val="90000"/>
              </a:lnSpc>
              <a:spcBef>
                <a:spcPts val="0"/>
              </a:spcBef>
              <a:spcAft>
                <a:spcPts val="0"/>
              </a:spcAft>
              <a:buClr>
                <a:schemeClr val="dk1"/>
              </a:buClr>
              <a:buSzPts val="2400"/>
              <a:buNone/>
            </a:pPr>
            <a:r>
              <a:rPr lang="en-US" sz="2400">
                <a:solidFill>
                  <a:schemeClr val="dk1"/>
                </a:solidFill>
              </a:rPr>
              <a:t>Luca Manzini</a:t>
            </a:r>
            <a:endParaRPr/>
          </a:p>
          <a:p>
            <a:pPr indent="0" lvl="0" marL="0" rtl="0" algn="l">
              <a:lnSpc>
                <a:spcPct val="90000"/>
              </a:lnSpc>
              <a:spcBef>
                <a:spcPts val="0"/>
              </a:spcBef>
              <a:spcAft>
                <a:spcPts val="0"/>
              </a:spcAft>
              <a:buClr>
                <a:schemeClr val="dk1"/>
              </a:buClr>
              <a:buSzPts val="2400"/>
              <a:buNone/>
            </a:pPr>
            <a:r>
              <a:rPr lang="en-US" sz="2400">
                <a:solidFill>
                  <a:schemeClr val="dk1"/>
                </a:solidFill>
              </a:rPr>
              <a:t>Luigi Pampanin</a:t>
            </a:r>
            <a:endParaRPr/>
          </a:p>
          <a:p>
            <a:pPr indent="0" lvl="0" marL="0" rtl="0" algn="l">
              <a:lnSpc>
                <a:spcPct val="90000"/>
              </a:lnSpc>
              <a:spcBef>
                <a:spcPts val="0"/>
              </a:spcBef>
              <a:spcAft>
                <a:spcPts val="0"/>
              </a:spcAft>
              <a:buClr>
                <a:schemeClr val="dk1"/>
              </a:buClr>
              <a:buSzPts val="2400"/>
              <a:buNone/>
            </a:pPr>
            <a:r>
              <a:rPr lang="en-US" sz="2400">
                <a:solidFill>
                  <a:schemeClr val="dk1"/>
                </a:solidFill>
              </a:rPr>
              <a:t>Lucia Menna</a:t>
            </a:r>
            <a:endParaRPr/>
          </a:p>
          <a:p>
            <a:pPr indent="0" lvl="0" marL="0" rtl="0" algn="l">
              <a:lnSpc>
                <a:spcPct val="90000"/>
              </a:lnSpc>
              <a:spcBef>
                <a:spcPts val="0"/>
              </a:spcBef>
              <a:spcAft>
                <a:spcPts val="0"/>
              </a:spcAft>
              <a:buClr>
                <a:schemeClr val="dk1"/>
              </a:buClr>
              <a:buSzPts val="2400"/>
              <a:buNone/>
            </a:pPr>
            <a:r>
              <a:rPr lang="en-US" sz="2400">
                <a:solidFill>
                  <a:schemeClr val="dk1"/>
                </a:solidFill>
              </a:rPr>
              <a:t>Helen Wolf</a:t>
            </a:r>
            <a:endParaRPr/>
          </a:p>
          <a:p>
            <a:pPr indent="0" lvl="0" marL="0" rtl="0" algn="l">
              <a:lnSpc>
                <a:spcPct val="90000"/>
              </a:lnSpc>
              <a:spcBef>
                <a:spcPts val="0"/>
              </a:spcBef>
              <a:spcAft>
                <a:spcPts val="0"/>
              </a:spcAft>
              <a:buClr>
                <a:schemeClr val="dk1"/>
              </a:buClr>
              <a:buSzPts val="2400"/>
              <a:buNone/>
            </a:pPr>
            <a:r>
              <a:rPr lang="en-US" sz="2400">
                <a:solidFill>
                  <a:schemeClr val="dk1"/>
                </a:solidFill>
              </a:rPr>
              <a:t>Francesco Izzi</a:t>
            </a:r>
            <a:endParaRPr/>
          </a:p>
        </p:txBody>
      </p:sp>
      <p:pic>
        <p:nvPicPr>
          <p:cNvPr descr="A red seal with text&#10;&#10;Description automatically generated" id="89" name="Google Shape;89;p1"/>
          <p:cNvPicPr preferRelativeResize="0"/>
          <p:nvPr/>
        </p:nvPicPr>
        <p:blipFill rotWithShape="1">
          <a:blip r:embed="rId3">
            <a:alphaModFix/>
          </a:blip>
          <a:srcRect b="0" l="0" r="0" t="0"/>
          <a:stretch/>
        </p:blipFill>
        <p:spPr>
          <a:xfrm>
            <a:off x="9690678" y="120177"/>
            <a:ext cx="2120900" cy="952500"/>
          </a:xfrm>
          <a:prstGeom prst="rect">
            <a:avLst/>
          </a:prstGeom>
          <a:noFill/>
          <a:ln>
            <a:noFill/>
          </a:ln>
        </p:spPr>
      </p:pic>
      <p:sp>
        <p:nvSpPr>
          <p:cNvPr id="90" name="Google Shape;90;p1"/>
          <p:cNvSpPr txBox="1"/>
          <p:nvPr/>
        </p:nvSpPr>
        <p:spPr>
          <a:xfrm>
            <a:off x="3046879" y="5793698"/>
            <a:ext cx="609824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400" u="none" cap="none" strike="noStrike">
                <a:solidFill>
                  <a:srgbClr val="C00000"/>
                </a:solidFill>
                <a:latin typeface="Helvetica Neue Light"/>
                <a:ea typeface="Helvetica Neue Light"/>
                <a:cs typeface="Helvetica Neue Light"/>
                <a:sym typeface="Helvetica Neue Light"/>
              </a:rPr>
              <a:t>Imaging for Neuroscience a.a. 2023/2024</a:t>
            </a:r>
            <a:endParaRPr b="0" i="0" sz="2400" u="none" cap="none" strike="noStrike">
              <a:solidFill>
                <a:schemeClr val="dk1"/>
              </a:solidFill>
              <a:latin typeface="Calibri"/>
              <a:ea typeface="Calibri"/>
              <a:cs typeface="Calibri"/>
              <a:sym typeface="Calibri"/>
            </a:endParaRPr>
          </a:p>
        </p:txBody>
      </p:sp>
      <p:sp>
        <p:nvSpPr>
          <p:cNvPr id="91" name="Google Shape;91;p1"/>
          <p:cNvSpPr txBox="1"/>
          <p:nvPr/>
        </p:nvSpPr>
        <p:spPr>
          <a:xfrm>
            <a:off x="3046879" y="1429762"/>
            <a:ext cx="609824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C00000"/>
              </a:buClr>
              <a:buSzPts val="4000"/>
              <a:buFont typeface="Calibri"/>
              <a:buNone/>
            </a:pPr>
            <a:r>
              <a:rPr b="1" i="0" lang="en-US" sz="4000" u="none" cap="none" strike="noStrike">
                <a:solidFill>
                  <a:srgbClr val="C00000"/>
                </a:solidFill>
                <a:latin typeface="Calibri"/>
                <a:ea typeface="Calibri"/>
                <a:cs typeface="Calibri"/>
                <a:sym typeface="Calibri"/>
              </a:rPr>
              <a:t>Homework 1 – Group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400" u="none" cap="none" strike="noStrike">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98" name="Google Shape;98;p2"/>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sz="1800" u="none">
              <a:solidFill>
                <a:schemeClr val="dk1"/>
              </a:solidFill>
              <a:latin typeface="Arial"/>
              <a:ea typeface="Arial"/>
              <a:cs typeface="Arial"/>
              <a:sym typeface="Arial"/>
            </a:endParaRPr>
          </a:p>
        </p:txBody>
      </p:sp>
      <p:pic>
        <p:nvPicPr>
          <p:cNvPr id="99" name="Google Shape;99;p2"/>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00" name="Google Shape;100;p2"/>
          <p:cNvSpPr txBox="1"/>
          <p:nvPr/>
        </p:nvSpPr>
        <p:spPr>
          <a:xfrm>
            <a:off x="764183" y="176832"/>
            <a:ext cx="11107342" cy="530665"/>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C00000"/>
              </a:buClr>
              <a:buSzPts val="2800"/>
              <a:buFont typeface="Helvetica Neue"/>
              <a:buNone/>
            </a:pPr>
            <a:r>
              <a:rPr b="1" lang="en-US" sz="2800" u="none">
                <a:solidFill>
                  <a:srgbClr val="C00000"/>
                </a:solidFill>
                <a:latin typeface="Helvetica Neue"/>
                <a:ea typeface="Helvetica Neue"/>
                <a:cs typeface="Helvetica Neue"/>
                <a:sym typeface="Helvetica Neue"/>
              </a:rPr>
              <a:t>AIM OF THIS HOMEWORK AND DATASET</a:t>
            </a:r>
            <a:endParaRPr b="0" sz="2800" u="none">
              <a:solidFill>
                <a:schemeClr val="dk1"/>
              </a:solidFill>
              <a:latin typeface="Helvetica Neue"/>
              <a:ea typeface="Helvetica Neue"/>
              <a:cs typeface="Helvetica Neue"/>
              <a:sym typeface="Helvetica Neue"/>
            </a:endParaRPr>
          </a:p>
        </p:txBody>
      </p:sp>
      <p:sp>
        <p:nvSpPr>
          <p:cNvPr id="101" name="Google Shape;10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102" name="Google Shape;102;p2"/>
          <p:cNvSpPr txBox="1"/>
          <p:nvPr/>
        </p:nvSpPr>
        <p:spPr>
          <a:xfrm>
            <a:off x="764183" y="921528"/>
            <a:ext cx="10645636"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Roboto"/>
              <a:buNone/>
            </a:pPr>
            <a:r>
              <a:rPr lang="en-US" sz="1800">
                <a:solidFill>
                  <a:schemeClr val="dk1"/>
                </a:solidFill>
                <a:latin typeface="Roboto"/>
                <a:ea typeface="Roboto"/>
                <a:cs typeface="Roboto"/>
                <a:sym typeface="Roboto"/>
              </a:rPr>
              <a:t>The goal of this homework is to investigate the relationship between brain states of two different groups of individuals as defined by dynamic functional connectivity obtained from resting state functional MRI data.</a:t>
            </a:r>
            <a:endParaRPr/>
          </a:p>
          <a:p>
            <a:pPr indent="0" lvl="0" marL="0" marR="0" rtl="0" algn="l">
              <a:spcBef>
                <a:spcPts val="0"/>
              </a:spcBef>
              <a:spcAft>
                <a:spcPts val="0"/>
              </a:spcAft>
              <a:buClr>
                <a:schemeClr val="dk1"/>
              </a:buClr>
              <a:buSzPts val="1800"/>
              <a:buFont typeface="Calibri"/>
              <a:buNone/>
            </a:pPr>
            <a:r>
              <a:t/>
            </a:r>
            <a:endParaRPr b="1" sz="1800">
              <a:solidFill>
                <a:schemeClr val="dk1"/>
              </a:solidFill>
              <a:latin typeface="Roboto"/>
              <a:ea typeface="Roboto"/>
              <a:cs typeface="Roboto"/>
              <a:sym typeface="Roboto"/>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old </a:t>
            </a:r>
            <a:r>
              <a:rPr lang="en-US" sz="1800">
                <a:solidFill>
                  <a:schemeClr val="dk1"/>
                </a:solidFill>
                <a:latin typeface="Roboto"/>
                <a:ea typeface="Roboto"/>
                <a:cs typeface="Roboto"/>
                <a:sym typeface="Roboto"/>
              </a:rPr>
              <a:t>= folder containing data of 10 old healthy controls</a:t>
            </a:r>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young </a:t>
            </a:r>
            <a:r>
              <a:rPr lang="en-US" sz="1800">
                <a:solidFill>
                  <a:schemeClr val="dk1"/>
                </a:solidFill>
                <a:latin typeface="Roboto"/>
                <a:ea typeface="Roboto"/>
                <a:cs typeface="Roboto"/>
                <a:sym typeface="Roboto"/>
              </a:rPr>
              <a:t>= folder containing data of 10 young healthy controls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Roboto"/>
              <a:ea typeface="Roboto"/>
              <a:cs typeface="Roboto"/>
              <a:sym typeface="Roboto"/>
            </a:endParaRPr>
          </a:p>
          <a:p>
            <a:pPr indent="0" lvl="0" marL="0" marR="0" rtl="0" algn="l">
              <a:spcBef>
                <a:spcPts val="0"/>
              </a:spcBef>
              <a:spcAft>
                <a:spcPts val="0"/>
              </a:spcAft>
              <a:buClr>
                <a:schemeClr val="dk1"/>
              </a:buClr>
              <a:buSzPts val="1800"/>
              <a:buFont typeface="Roboto"/>
              <a:buNone/>
            </a:pPr>
            <a:r>
              <a:rPr lang="en-US" sz="1800">
                <a:solidFill>
                  <a:schemeClr val="dk1"/>
                </a:solidFill>
                <a:latin typeface="Roboto"/>
                <a:ea typeface="Roboto"/>
                <a:cs typeface="Roboto"/>
                <a:sym typeface="Roboto"/>
              </a:rPr>
              <a:t>For both old and young controls, each subfolder contains:</a:t>
            </a:r>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Roboto"/>
              <a:ea typeface="Roboto"/>
              <a:cs typeface="Roboto"/>
              <a:sym typeface="Roboto"/>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preproc_rs_fMRI.nii.gz =</a:t>
            </a:r>
            <a:r>
              <a:rPr lang="en-US" sz="1800">
                <a:solidFill>
                  <a:schemeClr val="dk1"/>
                </a:solidFill>
                <a:latin typeface="Roboto"/>
                <a:ea typeface="Roboto"/>
                <a:cs typeface="Roboto"/>
                <a:sym typeface="Roboto"/>
              </a:rPr>
              <a:t> preprocessed fMRI data (2x2x2 mm3, TR=1 s, 400 volumes) mapped into the 			     MNI152 symmetric atlas</a:t>
            </a:r>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brain_mask.nii.gz = </a:t>
            </a:r>
            <a:r>
              <a:rPr lang="en-US" sz="1800">
                <a:solidFill>
                  <a:schemeClr val="dk1"/>
                </a:solidFill>
                <a:latin typeface="Roboto"/>
                <a:ea typeface="Roboto"/>
                <a:cs typeface="Roboto"/>
                <a:sym typeface="Roboto"/>
              </a:rPr>
              <a:t>individual fMRI brain mask mapped into the MNI152 symmetric atlas</a:t>
            </a:r>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Schaefer_segmentation.nii.gz = </a:t>
            </a:r>
            <a:r>
              <a:rPr lang="en-US" sz="1800">
                <a:solidFill>
                  <a:schemeClr val="dk1"/>
                </a:solidFill>
                <a:latin typeface="Roboto"/>
                <a:ea typeface="Roboto"/>
                <a:cs typeface="Roboto"/>
                <a:sym typeface="Roboto"/>
              </a:rPr>
              <a:t>Schaefer segmentation (100 parcels - 7 RSNs) of the MNI152 symmetric atlas</a:t>
            </a:r>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Schaefer2018_100Parcels_7Networks_order.txt =</a:t>
            </a:r>
            <a:r>
              <a:rPr lang="en-US" sz="1800">
                <a:solidFill>
                  <a:schemeClr val="dk1"/>
                </a:solidFill>
                <a:latin typeface="Roboto"/>
                <a:ea typeface="Roboto"/>
                <a:cs typeface="Roboto"/>
                <a:sym typeface="Roboto"/>
              </a:rPr>
              <a:t> file containing the labels of the parcels</a:t>
            </a:r>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labels.mat = </a:t>
            </a:r>
            <a:r>
              <a:rPr lang="en-US" sz="1800">
                <a:solidFill>
                  <a:schemeClr val="dk1"/>
                </a:solidFill>
                <a:latin typeface="Roboto"/>
                <a:ea typeface="Roboto"/>
                <a:cs typeface="Roboto"/>
                <a:sym typeface="Roboto"/>
              </a:rPr>
              <a:t>vector with the labels of the parcels</a:t>
            </a:r>
            <a:endParaRPr/>
          </a:p>
          <a:p>
            <a:pPr indent="0" lvl="0" marL="0" marR="0" rtl="0" algn="l">
              <a:spcBef>
                <a:spcPts val="0"/>
              </a:spcBef>
              <a:spcAft>
                <a:spcPts val="0"/>
              </a:spcAft>
              <a:buClr>
                <a:schemeClr val="dk1"/>
              </a:buClr>
              <a:buSzPts val="1800"/>
              <a:buFont typeface="Roboto"/>
              <a:buNone/>
            </a:pPr>
            <a:r>
              <a:rPr b="1" lang="en-US" sz="1800">
                <a:solidFill>
                  <a:schemeClr val="dk1"/>
                </a:solidFill>
                <a:latin typeface="Roboto"/>
                <a:ea typeface="Roboto"/>
                <a:cs typeface="Roboto"/>
                <a:sym typeface="Roboto"/>
              </a:rPr>
              <a:t>MNI_WM_mask.nii.gz =</a:t>
            </a:r>
            <a:r>
              <a:rPr lang="en-US" sz="1800">
                <a:solidFill>
                  <a:schemeClr val="dk1"/>
                </a:solidFill>
                <a:latin typeface="Roboto"/>
                <a:ea typeface="Roboto"/>
                <a:cs typeface="Roboto"/>
                <a:sym typeface="Roboto"/>
              </a:rPr>
              <a:t> white matter mask of the MNI152 symmetric atlas</a:t>
            </a:r>
            <a:endParaRPr/>
          </a:p>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109" name="Google Shape;109;p3"/>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10" name="Google Shape;110;p3"/>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11" name="Google Shape;111;p3"/>
          <p:cNvSpPr txBox="1"/>
          <p:nvPr/>
        </p:nvSpPr>
        <p:spPr>
          <a:xfrm>
            <a:off x="838200" y="254065"/>
            <a:ext cx="9677400" cy="479611"/>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100000"/>
              </a:lnSpc>
              <a:spcBef>
                <a:spcPts val="0"/>
              </a:spcBef>
              <a:spcAft>
                <a:spcPts val="0"/>
              </a:spcAft>
              <a:buClr>
                <a:srgbClr val="C00000"/>
              </a:buClr>
              <a:buSzPts val="2800"/>
              <a:buFont typeface="Helvetica Neue"/>
              <a:buNone/>
            </a:pPr>
            <a:r>
              <a:rPr b="1" lang="en-US" sz="2800">
                <a:solidFill>
                  <a:srgbClr val="C00000"/>
                </a:solidFill>
                <a:latin typeface="Helvetica Neue"/>
                <a:ea typeface="Helvetica Neue"/>
                <a:cs typeface="Helvetica Neue"/>
                <a:sym typeface="Helvetica Neue"/>
              </a:rPr>
              <a:t>METHODS: Summary of performed analysis</a:t>
            </a:r>
            <a:endParaRPr sz="2800">
              <a:solidFill>
                <a:schemeClr val="dk1"/>
              </a:solidFill>
              <a:latin typeface="Helvetica Neue"/>
              <a:ea typeface="Helvetica Neue"/>
              <a:cs typeface="Helvetica Neue"/>
              <a:sym typeface="Helvetica Neue"/>
            </a:endParaRPr>
          </a:p>
        </p:txBody>
      </p:sp>
      <p:sp>
        <p:nvSpPr>
          <p:cNvPr id="112" name="Google Shape;11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113" name="Google Shape;113;p3"/>
          <p:cNvSpPr txBox="1"/>
          <p:nvPr/>
        </p:nvSpPr>
        <p:spPr>
          <a:xfrm>
            <a:off x="838200" y="733676"/>
            <a:ext cx="10645636" cy="630942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Helvetica Neue"/>
                <a:ea typeface="Helvetica Neue"/>
                <a:cs typeface="Helvetica Neue"/>
                <a:sym typeface="Helvetica Neue"/>
              </a:rPr>
              <a:t>Extracting fMRI data for each parcel for each group: old and young</a:t>
            </a:r>
            <a:br>
              <a:rPr lang="en-US" sz="1400">
                <a:solidFill>
                  <a:schemeClr val="dk1"/>
                </a:solidFill>
                <a:latin typeface="Helvetica Neue"/>
                <a:ea typeface="Helvetica Neue"/>
                <a:cs typeface="Helvetica Neue"/>
                <a:sym typeface="Helvetica Neue"/>
              </a:rPr>
            </a:br>
            <a:r>
              <a:rPr lang="en-US" sz="1400">
                <a:solidFill>
                  <a:schemeClr val="dk1"/>
                </a:solidFill>
                <a:latin typeface="Helvetica Neue"/>
                <a:ea typeface="Helvetica Neue"/>
                <a:cs typeface="Helvetica Neue"/>
                <a:sym typeface="Helvetica Neue"/>
              </a:rPr>
              <a:t>🡪 excluding voxels outside the individual mask and within the one for the white matter</a:t>
            </a:r>
            <a:endParaRPr/>
          </a:p>
          <a:p>
            <a:pPr indent="-254000" lvl="0" marL="342900" marR="0" rtl="0" algn="l">
              <a:spcBef>
                <a:spcPts val="0"/>
              </a:spcBef>
              <a:spcAft>
                <a:spcPts val="0"/>
              </a:spcAft>
              <a:buClr>
                <a:schemeClr val="dk1"/>
              </a:buClr>
              <a:buSzPts val="1400"/>
              <a:buFont typeface="Calibri"/>
              <a:buNone/>
            </a:pPr>
            <a:r>
              <a:t/>
            </a:r>
            <a:endParaRPr sz="1400">
              <a:solidFill>
                <a:schemeClr val="dk1"/>
              </a:solidFill>
              <a:latin typeface="Helvetica Neue"/>
              <a:ea typeface="Helvetica Neue"/>
              <a:cs typeface="Helvetica Neue"/>
              <a:sym typeface="Helvetica Neue"/>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Helvetica Neue"/>
                <a:ea typeface="Helvetica Neue"/>
                <a:cs typeface="Helvetica Neue"/>
                <a:sym typeface="Helvetica Neue"/>
              </a:rPr>
              <a:t>Computing </a:t>
            </a:r>
            <a:r>
              <a:rPr b="1" lang="en-US" sz="1400">
                <a:solidFill>
                  <a:schemeClr val="dk1"/>
                </a:solidFill>
                <a:latin typeface="Helvetica Neue"/>
                <a:ea typeface="Helvetica Neue"/>
                <a:cs typeface="Helvetica Neue"/>
                <a:sym typeface="Helvetica Neue"/>
              </a:rPr>
              <a:t>static</a:t>
            </a:r>
            <a:r>
              <a:rPr lang="en-US" sz="1400">
                <a:solidFill>
                  <a:schemeClr val="dk1"/>
                </a:solidFill>
                <a:latin typeface="Helvetica Neue"/>
                <a:ea typeface="Helvetica Neue"/>
                <a:cs typeface="Helvetica Neue"/>
                <a:sym typeface="Helvetica Neue"/>
              </a:rPr>
              <a:t> functional connectivity (matrix)</a:t>
            </a:r>
            <a:br>
              <a:rPr lang="en-US" sz="1400">
                <a:solidFill>
                  <a:schemeClr val="dk1"/>
                </a:solidFill>
                <a:latin typeface="Helvetica Neue"/>
                <a:ea typeface="Helvetica Neue"/>
                <a:cs typeface="Helvetica Neue"/>
                <a:sym typeface="Helvetica Neue"/>
              </a:rPr>
            </a:br>
            <a:r>
              <a:rPr lang="en-US" sz="1400">
                <a:solidFill>
                  <a:schemeClr val="dk1"/>
                </a:solidFill>
                <a:latin typeface="Helvetica Neue"/>
                <a:ea typeface="Helvetica Neue"/>
                <a:cs typeface="Helvetica Neue"/>
                <a:sym typeface="Helvetica Neue"/>
              </a:rPr>
              <a:t>🡪 Fisher’s z-transformation: zFC</a:t>
            </a:r>
            <a:br>
              <a:rPr lang="en-US" sz="1400">
                <a:solidFill>
                  <a:schemeClr val="dk1"/>
                </a:solidFill>
                <a:latin typeface="Helvetica Neue"/>
                <a:ea typeface="Helvetica Neue"/>
                <a:cs typeface="Helvetica Neue"/>
                <a:sym typeface="Helvetica Neue"/>
              </a:rPr>
            </a:br>
            <a:endParaRPr sz="1400">
              <a:solidFill>
                <a:schemeClr val="dk1"/>
              </a:solidFill>
              <a:latin typeface="Helvetica Neue"/>
              <a:ea typeface="Helvetica Neue"/>
              <a:cs typeface="Helvetica Neue"/>
              <a:sym typeface="Helvetica Neue"/>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Helvetica Neue"/>
                <a:ea typeface="Helvetica Neue"/>
                <a:cs typeface="Helvetica Neue"/>
                <a:sym typeface="Helvetica Neue"/>
              </a:rPr>
              <a:t>Computing </a:t>
            </a:r>
            <a:r>
              <a:rPr b="1" lang="en-US" sz="1400">
                <a:solidFill>
                  <a:schemeClr val="dk1"/>
                </a:solidFill>
                <a:latin typeface="Helvetica Neue"/>
                <a:ea typeface="Helvetica Neue"/>
                <a:cs typeface="Helvetica Neue"/>
                <a:sym typeface="Helvetica Neue"/>
              </a:rPr>
              <a:t>dynamic</a:t>
            </a:r>
            <a:r>
              <a:rPr lang="en-US" sz="1400">
                <a:solidFill>
                  <a:schemeClr val="dk1"/>
                </a:solidFill>
                <a:latin typeface="Helvetica Neue"/>
                <a:ea typeface="Helvetica Neue"/>
                <a:cs typeface="Helvetica Neue"/>
                <a:sym typeface="Helvetica Neue"/>
              </a:rPr>
              <a:t> functional connectivity: sliding window (length = 30 t.p. , step size (TR) = 2)</a:t>
            </a:r>
            <a:br>
              <a:rPr lang="en-US" sz="1400">
                <a:solidFill>
                  <a:schemeClr val="dk1"/>
                </a:solidFill>
                <a:latin typeface="Helvetica Neue"/>
                <a:ea typeface="Helvetica Neue"/>
                <a:cs typeface="Helvetica Neue"/>
                <a:sym typeface="Helvetica Neue"/>
              </a:rPr>
            </a:br>
            <a:r>
              <a:rPr lang="en-US" sz="1400">
                <a:solidFill>
                  <a:schemeClr val="dk1"/>
                </a:solidFill>
                <a:latin typeface="Helvetica Neue"/>
                <a:ea typeface="Helvetica Neue"/>
                <a:cs typeface="Helvetica Neue"/>
                <a:sym typeface="Helvetica Neue"/>
              </a:rPr>
              <a:t>4. 🡪 Fisher’s z-transformation: zFC</a:t>
            </a:r>
            <a:endParaRPr sz="1400">
              <a:solidFill>
                <a:schemeClr val="dk1"/>
              </a:solidFill>
              <a:latin typeface="Helvetica Neue"/>
              <a:ea typeface="Helvetica Neue"/>
              <a:cs typeface="Helvetica Neue"/>
              <a:sym typeface="Helvetica Neue"/>
            </a:endParaRPr>
          </a:p>
          <a:p>
            <a:pPr indent="-254000" lvl="0" marL="342900" marR="0" rtl="0" algn="l">
              <a:spcBef>
                <a:spcPts val="0"/>
              </a:spcBef>
              <a:spcAft>
                <a:spcPts val="0"/>
              </a:spcAft>
              <a:buClr>
                <a:schemeClr val="dk1"/>
              </a:buClr>
              <a:buSzPts val="1400"/>
              <a:buFont typeface="Calibri"/>
              <a:buNone/>
            </a:pPr>
            <a:r>
              <a:t/>
            </a:r>
            <a:endParaRPr sz="1400">
              <a:solidFill>
                <a:schemeClr val="dk1"/>
              </a:solidFill>
              <a:latin typeface="Helvetica Neue"/>
              <a:ea typeface="Helvetica Neue"/>
              <a:cs typeface="Helvetica Neue"/>
              <a:sym typeface="Helvetica Neue"/>
            </a:endParaRPr>
          </a:p>
          <a:p>
            <a:pPr indent="0" lvl="0" marL="0" marR="0" rtl="0" algn="l">
              <a:spcBef>
                <a:spcPts val="0"/>
              </a:spcBef>
              <a:spcAft>
                <a:spcPts val="0"/>
              </a:spcAft>
              <a:buNone/>
            </a:pPr>
            <a:r>
              <a:rPr lang="en-US" sz="1400">
                <a:solidFill>
                  <a:schemeClr val="dk1"/>
                </a:solidFill>
                <a:latin typeface="Helvetica Neue"/>
                <a:ea typeface="Helvetica Neue"/>
                <a:cs typeface="Helvetica Neue"/>
                <a:sym typeface="Helvetica Neue"/>
              </a:rPr>
              <a:t>5. + 6. Characterization of both populations (HC = old and young) by analysing functional states using the </a:t>
            </a:r>
            <a:r>
              <a:rPr b="1" lang="en-US" sz="1400">
                <a:solidFill>
                  <a:schemeClr val="dk1"/>
                </a:solidFill>
                <a:latin typeface="Helvetica Neue"/>
                <a:ea typeface="Helvetica Neue"/>
                <a:cs typeface="Helvetica Neue"/>
                <a:sym typeface="Helvetica Neue"/>
              </a:rPr>
              <a:t>dynamic</a:t>
            </a:r>
            <a:r>
              <a:rPr lang="en-US" sz="1400">
                <a:solidFill>
                  <a:schemeClr val="dk1"/>
                </a:solidFill>
                <a:latin typeface="Helvetica Neue"/>
                <a:ea typeface="Helvetica Neue"/>
                <a:cs typeface="Helvetica Neue"/>
                <a:sym typeface="Helvetica Neue"/>
              </a:rPr>
              <a:t> functional</a:t>
            </a:r>
            <a:endParaRPr/>
          </a:p>
          <a:p>
            <a:pPr indent="0" lvl="0" marL="0" marR="0" rtl="0" algn="l">
              <a:spcBef>
                <a:spcPts val="0"/>
              </a:spcBef>
              <a:spcAft>
                <a:spcPts val="0"/>
              </a:spcAft>
              <a:buNone/>
            </a:pPr>
            <a:r>
              <a:rPr lang="en-US" sz="1400">
                <a:solidFill>
                  <a:schemeClr val="dk1"/>
                </a:solidFill>
                <a:latin typeface="Helvetica Neue"/>
                <a:ea typeface="Helvetica Neue"/>
                <a:cs typeface="Helvetica Neue"/>
                <a:sym typeface="Helvetica Neue"/>
              </a:rPr>
              <a:t>           connectivity results</a:t>
            </a:r>
            <a:endParaRPr/>
          </a:p>
          <a:p>
            <a:pPr indent="-342900" lvl="1" marL="800100" marR="0" rtl="0" algn="l">
              <a:spcBef>
                <a:spcPts val="0"/>
              </a:spcBef>
              <a:spcAft>
                <a:spcPts val="0"/>
              </a:spcAft>
              <a:buClr>
                <a:schemeClr val="dk1"/>
              </a:buClr>
              <a:buSzPts val="1400"/>
              <a:buFont typeface="Calibri"/>
              <a:buAutoNum type="alphaLcParenR"/>
            </a:pPr>
            <a:r>
              <a:rPr b="1" i="0" lang="en-US" sz="1400" u="none" cap="none" strike="noStrike">
                <a:solidFill>
                  <a:schemeClr val="dk1"/>
                </a:solidFill>
                <a:latin typeface="Calibri"/>
                <a:ea typeface="Calibri"/>
                <a:cs typeface="Calibri"/>
                <a:sym typeface="Calibri"/>
              </a:rPr>
              <a:t>Clustering analysis</a:t>
            </a:r>
            <a:r>
              <a:rPr b="0" i="0" lang="en-US" sz="1400" u="none" cap="none" strike="noStrike">
                <a:solidFill>
                  <a:schemeClr val="dk1"/>
                </a:solidFill>
                <a:latin typeface="Calibri"/>
                <a:ea typeface="Calibri"/>
                <a:cs typeface="Calibri"/>
                <a:sym typeface="Calibri"/>
              </a:rPr>
              <a:t>: hierarchical method (tree) and Euclidean distance metric </a:t>
            </a:r>
            <a:br>
              <a:rPr b="0" i="0" lang="en-US" sz="1400" u="none" cap="none" strike="noStrike">
                <a:solidFill>
                  <a:schemeClr val="dk1"/>
                </a:solidFill>
                <a:latin typeface="Calibri"/>
                <a:ea typeface="Calibri"/>
                <a:cs typeface="Calibri"/>
                <a:sym typeface="Calibri"/>
              </a:rPr>
            </a:br>
            <a:r>
              <a:rPr b="1" i="0" lang="en-US" sz="1400" u="none" cap="none" strike="noStrike">
                <a:solidFill>
                  <a:schemeClr val="dk1"/>
                </a:solidFill>
                <a:latin typeface="Calibri"/>
                <a:ea typeface="Calibri"/>
                <a:cs typeface="Calibri"/>
                <a:sym typeface="Calibri"/>
              </a:rPr>
              <a:t>🡪 Optimal number of clusters: K_Old + K_Young  </a:t>
            </a:r>
            <a:r>
              <a:rPr b="0" i="0" lang="en-US" sz="1400" u="none" cap="none" strike="noStrike">
                <a:solidFill>
                  <a:schemeClr val="dk1"/>
                </a:solidFill>
                <a:latin typeface="Calibri"/>
                <a:ea typeface="Calibri"/>
                <a:cs typeface="Calibri"/>
                <a:sym typeface="Calibri"/>
              </a:rPr>
              <a:t>between 2 and 10 🡪 shilouette approach</a:t>
            </a:r>
            <a:endParaRPr/>
          </a:p>
          <a:p>
            <a:pPr indent="-342900" lvl="1" marL="800100" marR="0" rtl="0" algn="l">
              <a:spcBef>
                <a:spcPts val="0"/>
              </a:spcBef>
              <a:spcAft>
                <a:spcPts val="0"/>
              </a:spcAft>
              <a:buClr>
                <a:schemeClr val="dk1"/>
              </a:buClr>
              <a:buSzPts val="1400"/>
              <a:buFont typeface="Calibri"/>
              <a:buAutoNum type="alphaLcParenR"/>
            </a:pPr>
            <a:r>
              <a:rPr b="1" i="0" lang="en-US" sz="1400" u="none" cap="none" strike="noStrike">
                <a:solidFill>
                  <a:schemeClr val="dk1"/>
                </a:solidFill>
                <a:latin typeface="Calibri"/>
                <a:ea typeface="Calibri"/>
                <a:cs typeface="Calibri"/>
                <a:sym typeface="Calibri"/>
              </a:rPr>
              <a:t>Fractional occupancy = </a:t>
            </a:r>
            <a:r>
              <a:rPr b="0" i="0" lang="en-US" sz="1400" u="none" cap="none" strike="noStrike">
                <a:solidFill>
                  <a:schemeClr val="dk1"/>
                </a:solidFill>
                <a:latin typeface="Calibri"/>
                <a:ea typeface="Calibri"/>
                <a:cs typeface="Calibri"/>
                <a:sym typeface="Calibri"/>
              </a:rPr>
              <a:t>nr. windows for one state/ total nr. windows) </a:t>
            </a:r>
            <a:endParaRPr/>
          </a:p>
          <a:p>
            <a:pPr indent="-342900" lvl="1" marL="800100" marR="0" rtl="0" algn="l">
              <a:spcBef>
                <a:spcPts val="0"/>
              </a:spcBef>
              <a:spcAft>
                <a:spcPts val="0"/>
              </a:spcAft>
              <a:buClr>
                <a:schemeClr val="dk1"/>
              </a:buClr>
              <a:buSzPts val="1400"/>
              <a:buFont typeface="Calibri"/>
              <a:buAutoNum type="alphaLcParenR"/>
            </a:pPr>
            <a:r>
              <a:rPr b="0" i="0" lang="en-US" sz="1400" u="none" cap="none" strike="noStrike">
                <a:solidFill>
                  <a:schemeClr val="dk1"/>
                </a:solidFill>
                <a:latin typeface="Calibri"/>
                <a:ea typeface="Calibri"/>
                <a:cs typeface="Calibri"/>
                <a:sym typeface="Calibri"/>
              </a:rPr>
              <a:t>Graph theoretical analysis on centroids of each of K_old and K_young clusters</a:t>
            </a:r>
            <a:endParaRPr/>
          </a:p>
          <a:p>
            <a:pPr indent="-400050" lvl="2" marL="1314450" marR="0" rtl="0" algn="l">
              <a:spcBef>
                <a:spcPts val="0"/>
              </a:spcBef>
              <a:spcAft>
                <a:spcPts val="0"/>
              </a:spcAft>
              <a:buClr>
                <a:schemeClr val="dk1"/>
              </a:buClr>
              <a:buSzPts val="1400"/>
              <a:buFont typeface="Calibri"/>
              <a:buAutoNum type="romanLcPeriod"/>
            </a:pPr>
            <a:r>
              <a:rPr b="0" i="0" lang="en-US" sz="1400" u="none" cap="none" strike="noStrike">
                <a:solidFill>
                  <a:schemeClr val="dk1"/>
                </a:solidFill>
                <a:latin typeface="Calibri"/>
                <a:ea typeface="Calibri"/>
                <a:cs typeface="Calibri"/>
                <a:sym typeface="Calibri"/>
              </a:rPr>
              <a:t>Adjacent matrix </a:t>
            </a:r>
            <a:r>
              <a:rPr b="1" i="0" lang="en-US" sz="1400" u="none" cap="none" strike="noStrike">
                <a:solidFill>
                  <a:schemeClr val="dk1"/>
                </a:solidFill>
                <a:latin typeface="Calibri"/>
                <a:ea typeface="Calibri"/>
                <a:cs typeface="Calibri"/>
                <a:sym typeface="Calibri"/>
              </a:rPr>
              <a:t>A_Old + A_Young: </a:t>
            </a:r>
            <a:r>
              <a:rPr b="0" i="0" lang="en-US" sz="1400" u="none" cap="none" strike="noStrike">
                <a:solidFill>
                  <a:schemeClr val="dk1"/>
                </a:solidFill>
                <a:latin typeface="Calibri"/>
                <a:ea typeface="Calibri"/>
                <a:cs typeface="Calibri"/>
                <a:sym typeface="Calibri"/>
              </a:rPr>
              <a:t>sparse matrix, one dim for each cluster </a:t>
            </a:r>
            <a:br>
              <a:rPr b="0" i="0" lang="en-US" sz="1400" u="none" cap="none" strike="noStrike">
                <a:solidFill>
                  <a:schemeClr val="dk1"/>
                </a:solidFill>
                <a:latin typeface="Calibri"/>
                <a:ea typeface="Calibri"/>
                <a:cs typeface="Calibri"/>
                <a:sym typeface="Calibri"/>
              </a:rPr>
            </a:br>
            <a:r>
              <a:rPr b="0" i="0" lang="en-US" sz="1400" u="none" cap="none" strike="noStrike">
                <a:solidFill>
                  <a:schemeClr val="dk1"/>
                </a:solidFill>
                <a:latin typeface="Calibri"/>
                <a:ea typeface="Calibri"/>
                <a:cs typeface="Calibri"/>
                <a:sym typeface="Calibri"/>
              </a:rPr>
              <a:t>(density reduced to 1 and 0, threshold = 75% highest positive values)</a:t>
            </a:r>
            <a:endParaRPr/>
          </a:p>
          <a:p>
            <a:pPr indent="-400050" lvl="2" marL="1314450" marR="0" rtl="0" algn="l">
              <a:spcBef>
                <a:spcPts val="0"/>
              </a:spcBef>
              <a:spcAft>
                <a:spcPts val="0"/>
              </a:spcAft>
              <a:buClr>
                <a:schemeClr val="dk1"/>
              </a:buClr>
              <a:buSzPts val="1400"/>
              <a:buFont typeface="Calibri"/>
              <a:buAutoNum type="romanLcPeriod"/>
            </a:pPr>
            <a:r>
              <a:rPr b="0" i="0" lang="en-US" sz="1400" u="none" cap="none" strike="noStrike">
                <a:solidFill>
                  <a:schemeClr val="dk1"/>
                </a:solidFill>
                <a:latin typeface="Calibri"/>
                <a:ea typeface="Calibri"/>
                <a:cs typeface="Calibri"/>
                <a:sym typeface="Calibri"/>
              </a:rPr>
              <a:t>Calculate </a:t>
            </a:r>
            <a:r>
              <a:rPr b="1" i="0" lang="en-US" sz="1400" u="none" cap="none" strike="noStrike">
                <a:solidFill>
                  <a:schemeClr val="dk1"/>
                </a:solidFill>
                <a:latin typeface="Calibri"/>
                <a:ea typeface="Calibri"/>
                <a:cs typeface="Calibri"/>
                <a:sym typeface="Calibri"/>
              </a:rPr>
              <a:t>Laplacian matrix </a:t>
            </a:r>
            <a:r>
              <a:rPr b="0" i="0" lang="en-US" sz="1400" u="none" cap="none" strike="noStrike">
                <a:solidFill>
                  <a:schemeClr val="dk1"/>
                </a:solidFill>
                <a:latin typeface="Calibri"/>
                <a:ea typeface="Calibri"/>
                <a:cs typeface="Calibri"/>
                <a:sym typeface="Calibri"/>
              </a:rPr>
              <a:t>= D – A</a:t>
            </a:r>
            <a:endParaRPr b="1" i="0" sz="1400" u="none" cap="none" strike="noStrike">
              <a:solidFill>
                <a:schemeClr val="dk1"/>
              </a:solidFill>
              <a:latin typeface="Calibri"/>
              <a:ea typeface="Calibri"/>
              <a:cs typeface="Calibri"/>
              <a:sym typeface="Calibri"/>
            </a:endParaRPr>
          </a:p>
          <a:p>
            <a:pPr indent="-400050" lvl="2" marL="1314450" marR="0" rtl="0" algn="l">
              <a:spcBef>
                <a:spcPts val="0"/>
              </a:spcBef>
              <a:spcAft>
                <a:spcPts val="0"/>
              </a:spcAft>
              <a:buClr>
                <a:schemeClr val="dk1"/>
              </a:buClr>
              <a:buSzPts val="1400"/>
              <a:buFont typeface="Calibri"/>
              <a:buAutoNum type="romanLcPeriod"/>
            </a:pPr>
            <a:r>
              <a:rPr b="0" i="0" lang="en-US" sz="1400" u="none" cap="none" strike="noStrike">
                <a:solidFill>
                  <a:schemeClr val="dk1"/>
                </a:solidFill>
                <a:latin typeface="Calibri"/>
                <a:ea typeface="Calibri"/>
                <a:cs typeface="Calibri"/>
                <a:sym typeface="Calibri"/>
              </a:rPr>
              <a:t>Calculate</a:t>
            </a:r>
            <a:r>
              <a:rPr b="1" i="0" lang="en-US" sz="1400" u="none" cap="none" strike="noStrike">
                <a:solidFill>
                  <a:schemeClr val="dk1"/>
                </a:solidFill>
                <a:latin typeface="Calibri"/>
                <a:ea typeface="Calibri"/>
                <a:cs typeface="Calibri"/>
                <a:sym typeface="Calibri"/>
              </a:rPr>
              <a:t>  Gradient = principal eigenvector corr.</a:t>
            </a:r>
            <a:r>
              <a:rPr b="0" i="0" lang="en-US" sz="1400" u="none" cap="none" strike="noStrike">
                <a:solidFill>
                  <a:schemeClr val="dk1"/>
                </a:solidFill>
                <a:latin typeface="Calibri"/>
                <a:ea typeface="Calibri"/>
                <a:cs typeface="Calibri"/>
                <a:sym typeface="Calibri"/>
              </a:rPr>
              <a:t> lowest eigenvalue: </a:t>
            </a:r>
            <a:r>
              <a:rPr b="1" i="0" lang="en-US" sz="1400" u="none" cap="none" strike="noStrike">
                <a:solidFill>
                  <a:schemeClr val="dk1"/>
                </a:solidFill>
                <a:latin typeface="Calibri"/>
                <a:ea typeface="Calibri"/>
                <a:cs typeface="Calibri"/>
                <a:sym typeface="Calibri"/>
              </a:rPr>
              <a:t>Gradient_Old + Gradient_Young</a:t>
            </a:r>
            <a:endParaRPr b="1" i="0" sz="1400" u="none" cap="none" strike="noStrike">
              <a:solidFill>
                <a:schemeClr val="dk1"/>
              </a:solidFill>
              <a:latin typeface="Calibri"/>
              <a:ea typeface="Calibri"/>
              <a:cs typeface="Calibri"/>
              <a:sym typeface="Calibri"/>
            </a:endParaRPr>
          </a:p>
          <a:p>
            <a:pPr indent="0" lvl="2" marL="914400" marR="0" rtl="0" algn="l">
              <a:spcBef>
                <a:spcPts val="0"/>
              </a:spcBef>
              <a:spcAft>
                <a:spcPts val="0"/>
              </a:spcAft>
              <a:buNone/>
            </a:pPr>
            <a:r>
              <a:t/>
            </a:r>
            <a:endParaRPr b="1" i="0" sz="1400" u="none" cap="none" strike="noStrike">
              <a:solidFill>
                <a:schemeClr val="dk1"/>
              </a:solidFill>
              <a:latin typeface="Calibri"/>
              <a:ea typeface="Calibri"/>
              <a:cs typeface="Calibri"/>
              <a:sym typeface="Calibri"/>
            </a:endParaRPr>
          </a:p>
          <a:p>
            <a:pPr indent="-400050" lvl="0" marL="400050" marR="0" rtl="0" algn="l">
              <a:spcBef>
                <a:spcPts val="0"/>
              </a:spcBef>
              <a:spcAft>
                <a:spcPts val="0"/>
              </a:spcAft>
              <a:buClr>
                <a:schemeClr val="dk1"/>
              </a:buClr>
              <a:buSzPts val="1400"/>
              <a:buFont typeface="Calibri"/>
              <a:buAutoNum type="arabicPeriod" startAt="7"/>
            </a:pPr>
            <a:r>
              <a:rPr lang="en-US" sz="1400">
                <a:solidFill>
                  <a:schemeClr val="dk1"/>
                </a:solidFill>
                <a:latin typeface="Helvetica Neue"/>
                <a:ea typeface="Helvetica Neue"/>
                <a:cs typeface="Helvetica Neue"/>
                <a:sym typeface="Helvetica Neue"/>
              </a:rPr>
              <a:t>Comparison of functional states between old and young HC</a:t>
            </a:r>
            <a:endParaRPr/>
          </a:p>
          <a:p>
            <a:pPr indent="-400050" lvl="1" marL="857250" marR="0" rtl="0" algn="l">
              <a:spcBef>
                <a:spcPts val="0"/>
              </a:spcBef>
              <a:spcAft>
                <a:spcPts val="0"/>
              </a:spcAft>
              <a:buClr>
                <a:schemeClr val="dk1"/>
              </a:buClr>
              <a:buSzPts val="1400"/>
              <a:buFont typeface="Calibri"/>
              <a:buAutoNum type="alphaLcParenR"/>
            </a:pPr>
            <a:r>
              <a:rPr b="0" i="0" lang="en-US" sz="1400" u="none" cap="none" strike="noStrike">
                <a:solidFill>
                  <a:schemeClr val="dk1"/>
                </a:solidFill>
                <a:latin typeface="Calibri"/>
                <a:ea typeface="Calibri"/>
                <a:cs typeface="Calibri"/>
                <a:sym typeface="Calibri"/>
              </a:rPr>
              <a:t>K_Old == K_Young ? </a:t>
            </a:r>
            <a:endParaRPr/>
          </a:p>
          <a:p>
            <a:pPr indent="-400050" lvl="1" marL="857250" marR="0" rtl="0" algn="l">
              <a:spcBef>
                <a:spcPts val="0"/>
              </a:spcBef>
              <a:spcAft>
                <a:spcPts val="0"/>
              </a:spcAft>
              <a:buClr>
                <a:schemeClr val="dk1"/>
              </a:buClr>
              <a:buSzPts val="1400"/>
              <a:buFont typeface="Calibri"/>
              <a:buAutoNum type="alphaLcParenR"/>
            </a:pPr>
            <a:r>
              <a:rPr b="0" i="0" lang="en-US" sz="1400" u="none" cap="none" strike="noStrike">
                <a:solidFill>
                  <a:schemeClr val="dk1"/>
                </a:solidFill>
                <a:latin typeface="Calibri"/>
                <a:ea typeface="Calibri"/>
                <a:cs typeface="Calibri"/>
                <a:sym typeface="Calibri"/>
              </a:rPr>
              <a:t>Matrix </a:t>
            </a:r>
            <a:r>
              <a:rPr b="1" i="0" lang="en-US" sz="1400" u="none" cap="none" strike="noStrike">
                <a:solidFill>
                  <a:schemeClr val="dk1"/>
                </a:solidFill>
                <a:latin typeface="Calibri"/>
                <a:ea typeface="Calibri"/>
                <a:cs typeface="Calibri"/>
                <a:sym typeface="Calibri"/>
              </a:rPr>
              <a:t>Dist_all : </a:t>
            </a:r>
            <a:r>
              <a:rPr b="0" i="0" lang="en-US" sz="1400" u="none" cap="none" strike="noStrike">
                <a:solidFill>
                  <a:schemeClr val="dk1"/>
                </a:solidFill>
                <a:latin typeface="Calibri"/>
                <a:ea typeface="Calibri"/>
                <a:cs typeface="Calibri"/>
                <a:sym typeface="Calibri"/>
              </a:rPr>
              <a:t>Spearson corr. between Gradient_Old and Gradient_Young</a:t>
            </a:r>
            <a:endParaRPr b="0" i="0" sz="1400" u="none" cap="none" strike="noStrike">
              <a:solidFill>
                <a:schemeClr val="dk1"/>
              </a:solidFill>
              <a:latin typeface="Calibri"/>
              <a:ea typeface="Calibri"/>
              <a:cs typeface="Calibri"/>
              <a:sym typeface="Calibri"/>
            </a:endParaRPr>
          </a:p>
          <a:p>
            <a:pPr indent="-400050" lvl="1" marL="857250" marR="0" rtl="0" algn="l">
              <a:spcBef>
                <a:spcPts val="0"/>
              </a:spcBef>
              <a:spcAft>
                <a:spcPts val="0"/>
              </a:spcAft>
              <a:buClr>
                <a:schemeClr val="dk1"/>
              </a:buClr>
              <a:buSzPts val="1400"/>
              <a:buFont typeface="Calibri"/>
              <a:buAutoNum type="alphaLcParenR"/>
            </a:pPr>
            <a:r>
              <a:rPr b="0" i="0" lang="en-US" sz="1400" u="none" cap="none" strike="noStrike">
                <a:solidFill>
                  <a:schemeClr val="dk1"/>
                </a:solidFill>
                <a:latin typeface="Calibri"/>
                <a:ea typeface="Calibri"/>
                <a:cs typeface="Calibri"/>
                <a:sym typeface="Calibri"/>
              </a:rPr>
              <a:t>Which is the state of the old population that least resembles the youth states?</a:t>
            </a:r>
            <a:endParaRPr b="0" i="0" sz="1800" u="none" cap="none" strike="noStrike">
              <a:solidFill>
                <a:schemeClr val="dk1"/>
              </a:solidFill>
              <a:latin typeface="Calibri"/>
              <a:ea typeface="Calibri"/>
              <a:cs typeface="Calibri"/>
              <a:sym typeface="Calibri"/>
            </a:endParaRPr>
          </a:p>
          <a:p>
            <a:pPr indent="-285750" lvl="0" marL="400050" marR="0" rtl="0" algn="l">
              <a:spcBef>
                <a:spcPts val="0"/>
              </a:spcBef>
              <a:spcAft>
                <a:spcPts val="0"/>
              </a:spcAft>
              <a:buClr>
                <a:schemeClr val="dk1"/>
              </a:buClr>
              <a:buSzPts val="1800"/>
              <a:buFont typeface="Calibri"/>
              <a:buNone/>
            </a:pPr>
            <a:r>
              <a:t/>
            </a:r>
            <a:endParaRPr b="1" sz="1800">
              <a:solidFill>
                <a:schemeClr val="dk1"/>
              </a:solidFill>
              <a:latin typeface="Calibri"/>
              <a:ea typeface="Calibri"/>
              <a:cs typeface="Calibri"/>
              <a:sym typeface="Calibri"/>
            </a:endParaRPr>
          </a:p>
          <a:p>
            <a:pPr indent="0" lvl="1" marL="457200" marR="0" rtl="0" algn="l">
              <a:spcBef>
                <a:spcPts val="0"/>
              </a:spcBef>
              <a:spcAft>
                <a:spcPts val="0"/>
              </a:spcAft>
              <a:buNone/>
            </a:pPr>
            <a:r>
              <a:t/>
            </a:r>
            <a:endParaRPr b="1" i="0" sz="1800" u="none" cap="none" strike="noStrike">
              <a:solidFill>
                <a:schemeClr val="dk1"/>
              </a:solidFill>
              <a:latin typeface="Calibri"/>
              <a:ea typeface="Calibri"/>
              <a:cs typeface="Calibri"/>
              <a:sym typeface="Calibri"/>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120" name="Google Shape;120;p4"/>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21" name="Google Shape;121;p4"/>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22" name="Google Shape;12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123" name="Google Shape;123;p4"/>
          <p:cNvSpPr txBox="1"/>
          <p:nvPr/>
        </p:nvSpPr>
        <p:spPr>
          <a:xfrm>
            <a:off x="838200" y="254065"/>
            <a:ext cx="9677400" cy="479611"/>
          </a:xfrm>
          <a:prstGeom prst="rect">
            <a:avLst/>
          </a:prstGeom>
          <a:noFill/>
          <a:ln>
            <a:noFill/>
          </a:ln>
        </p:spPr>
        <p:txBody>
          <a:bodyPr anchorCtr="0" anchor="ctr" bIns="45700" lIns="91425" spcFirstLastPara="1" rIns="91425" wrap="square" tIns="45700">
            <a:normAutofit fontScale="92500" lnSpcReduction="10000"/>
          </a:bodyPr>
          <a:lstStyle/>
          <a:p>
            <a:pPr indent="0" lvl="0" marL="0" marR="0" rtl="0" algn="l">
              <a:lnSpc>
                <a:spcPct val="100000"/>
              </a:lnSpc>
              <a:spcBef>
                <a:spcPts val="0"/>
              </a:spcBef>
              <a:spcAft>
                <a:spcPts val="0"/>
              </a:spcAft>
              <a:buClr>
                <a:srgbClr val="C00000"/>
              </a:buClr>
              <a:buSzPct val="100000"/>
              <a:buFont typeface="Helvetica Neue"/>
              <a:buNone/>
            </a:pPr>
            <a:r>
              <a:rPr b="1" lang="en-US" sz="2800">
                <a:solidFill>
                  <a:srgbClr val="C00000"/>
                </a:solidFill>
                <a:latin typeface="Helvetica Neue"/>
                <a:ea typeface="Helvetica Neue"/>
                <a:cs typeface="Helvetica Neue"/>
                <a:sym typeface="Helvetica Neue"/>
              </a:rPr>
              <a:t>RESULTS Static FC 🡪 Old HC</a:t>
            </a:r>
            <a:endParaRPr sz="2800">
              <a:solidFill>
                <a:schemeClr val="dk1"/>
              </a:solidFill>
              <a:latin typeface="Helvetica Neue"/>
              <a:ea typeface="Helvetica Neue"/>
              <a:cs typeface="Helvetica Neue"/>
              <a:sym typeface="Helvetica Neue"/>
            </a:endParaRPr>
          </a:p>
        </p:txBody>
      </p:sp>
      <p:pic>
        <p:nvPicPr>
          <p:cNvPr id="124" name="Google Shape;124;p4"/>
          <p:cNvPicPr preferRelativeResize="0"/>
          <p:nvPr/>
        </p:nvPicPr>
        <p:blipFill rotWithShape="1">
          <a:blip r:embed="rId4">
            <a:alphaModFix/>
          </a:blip>
          <a:srcRect b="58689" l="9278" r="6578" t="16246"/>
          <a:stretch/>
        </p:blipFill>
        <p:spPr>
          <a:xfrm>
            <a:off x="714234" y="819541"/>
            <a:ext cx="11264405" cy="2515648"/>
          </a:xfrm>
          <a:prstGeom prst="rect">
            <a:avLst/>
          </a:prstGeom>
          <a:noFill/>
          <a:ln>
            <a:noFill/>
          </a:ln>
        </p:spPr>
      </p:pic>
      <p:pic>
        <p:nvPicPr>
          <p:cNvPr id="125" name="Google Shape;125;p4"/>
          <p:cNvPicPr preferRelativeResize="0"/>
          <p:nvPr/>
        </p:nvPicPr>
        <p:blipFill rotWithShape="1">
          <a:blip r:embed="rId4">
            <a:alphaModFix/>
          </a:blip>
          <a:srcRect b="12299" l="9648" r="8877" t="63979"/>
          <a:stretch/>
        </p:blipFill>
        <p:spPr>
          <a:xfrm>
            <a:off x="619260" y="3453245"/>
            <a:ext cx="11093229" cy="24214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132" name="Google Shape;132;p5"/>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33" name="Google Shape;133;p5"/>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34" name="Google Shape;13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pic>
        <p:nvPicPr>
          <p:cNvPr id="135" name="Google Shape;135;p5"/>
          <p:cNvPicPr preferRelativeResize="0"/>
          <p:nvPr/>
        </p:nvPicPr>
        <p:blipFill rotWithShape="1">
          <a:blip r:embed="rId4">
            <a:alphaModFix/>
          </a:blip>
          <a:srcRect b="60363" l="8192" r="6837" t="15666"/>
          <a:stretch/>
        </p:blipFill>
        <p:spPr>
          <a:xfrm>
            <a:off x="24078" y="898057"/>
            <a:ext cx="11929738" cy="2523097"/>
          </a:xfrm>
          <a:prstGeom prst="rect">
            <a:avLst/>
          </a:prstGeom>
          <a:noFill/>
          <a:ln>
            <a:noFill/>
          </a:ln>
        </p:spPr>
      </p:pic>
      <p:pic>
        <p:nvPicPr>
          <p:cNvPr id="136" name="Google Shape;136;p5"/>
          <p:cNvPicPr preferRelativeResize="0"/>
          <p:nvPr/>
        </p:nvPicPr>
        <p:blipFill rotWithShape="1">
          <a:blip r:embed="rId4">
            <a:alphaModFix/>
          </a:blip>
          <a:srcRect b="11738" l="8192" r="6837" t="63076"/>
          <a:stretch/>
        </p:blipFill>
        <p:spPr>
          <a:xfrm>
            <a:off x="49062" y="3575608"/>
            <a:ext cx="11974102" cy="2660954"/>
          </a:xfrm>
          <a:prstGeom prst="rect">
            <a:avLst/>
          </a:prstGeom>
          <a:noFill/>
          <a:ln>
            <a:noFill/>
          </a:ln>
        </p:spPr>
      </p:pic>
      <p:sp>
        <p:nvSpPr>
          <p:cNvPr id="137" name="Google Shape;137;p5"/>
          <p:cNvSpPr txBox="1"/>
          <p:nvPr/>
        </p:nvSpPr>
        <p:spPr>
          <a:xfrm>
            <a:off x="838200" y="258691"/>
            <a:ext cx="9677400" cy="479611"/>
          </a:xfrm>
          <a:prstGeom prst="rect">
            <a:avLst/>
          </a:prstGeom>
          <a:noFill/>
          <a:ln>
            <a:noFill/>
          </a:ln>
        </p:spPr>
        <p:txBody>
          <a:bodyPr anchorCtr="0" anchor="ctr" bIns="45700" lIns="91425" spcFirstLastPara="1" rIns="91425" wrap="square" tIns="45700">
            <a:normAutofit fontScale="92500" lnSpcReduction="10000"/>
          </a:bodyPr>
          <a:lstStyle/>
          <a:p>
            <a:pPr indent="0" lvl="0" marL="0" marR="0" rtl="0" algn="l">
              <a:lnSpc>
                <a:spcPct val="100000"/>
              </a:lnSpc>
              <a:spcBef>
                <a:spcPts val="0"/>
              </a:spcBef>
              <a:spcAft>
                <a:spcPts val="0"/>
              </a:spcAft>
              <a:buClr>
                <a:srgbClr val="C00000"/>
              </a:buClr>
              <a:buSzPct val="100000"/>
              <a:buFont typeface="Helvetica Neue"/>
              <a:buNone/>
            </a:pPr>
            <a:r>
              <a:rPr b="1" lang="en-US" sz="2800">
                <a:solidFill>
                  <a:srgbClr val="C00000"/>
                </a:solidFill>
                <a:latin typeface="Helvetica Neue"/>
                <a:ea typeface="Helvetica Neue"/>
                <a:cs typeface="Helvetica Neue"/>
                <a:sym typeface="Helvetica Neue"/>
              </a:rPr>
              <a:t>RESULTS Static FC 🡪 Young HC</a:t>
            </a:r>
            <a:endParaRPr sz="2800">
              <a:solidFill>
                <a:schemeClr val="dk1"/>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144" name="Google Shape;144;p6"/>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45" name="Google Shape;145;p6"/>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46" name="Google Shape;146;p6"/>
          <p:cNvSpPr txBox="1"/>
          <p:nvPr>
            <p:ph idx="1" type="body"/>
          </p:nvPr>
        </p:nvSpPr>
        <p:spPr>
          <a:xfrm>
            <a:off x="838200" y="89805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Hierarchical method (tree) and Euclidean distance metric: ‘ward’ method</a:t>
            </a:r>
            <a:endParaRPr/>
          </a:p>
          <a:p>
            <a:pPr indent="-228600" lvl="0" marL="228600" rtl="0" algn="l">
              <a:lnSpc>
                <a:spcPct val="90000"/>
              </a:lnSpc>
              <a:spcBef>
                <a:spcPts val="1000"/>
              </a:spcBef>
              <a:spcAft>
                <a:spcPts val="0"/>
              </a:spcAft>
              <a:buClr>
                <a:schemeClr val="dk1"/>
              </a:buClr>
              <a:buSzPts val="2400"/>
              <a:buChar char="•"/>
            </a:pPr>
            <a:r>
              <a:rPr lang="en-US" sz="2400"/>
              <a:t>Nr. optimum clusters: shilouette approach used</a:t>
            </a:r>
            <a:endParaRPr/>
          </a:p>
        </p:txBody>
      </p:sp>
      <p:sp>
        <p:nvSpPr>
          <p:cNvPr id="147" name="Google Shape;14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148" name="Google Shape;148;p6"/>
          <p:cNvSpPr txBox="1"/>
          <p:nvPr/>
        </p:nvSpPr>
        <p:spPr>
          <a:xfrm>
            <a:off x="838200" y="254065"/>
            <a:ext cx="9677400" cy="479611"/>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100000"/>
              </a:lnSpc>
              <a:spcBef>
                <a:spcPts val="0"/>
              </a:spcBef>
              <a:spcAft>
                <a:spcPts val="0"/>
              </a:spcAft>
              <a:buClr>
                <a:srgbClr val="C00000"/>
              </a:buClr>
              <a:buSzPts val="2800"/>
              <a:buFont typeface="Helvetica Neue"/>
              <a:buNone/>
            </a:pPr>
            <a:r>
              <a:rPr b="1" lang="en-US" sz="2800">
                <a:solidFill>
                  <a:srgbClr val="C00000"/>
                </a:solidFill>
                <a:latin typeface="Helvetica Neue"/>
                <a:ea typeface="Helvetica Neue"/>
                <a:cs typeface="Helvetica Neue"/>
                <a:sym typeface="Helvetica Neue"/>
              </a:rPr>
              <a:t>RESULTS: Dynamic functional connectivity – Clustering </a:t>
            </a:r>
            <a:endParaRPr sz="2800">
              <a:solidFill>
                <a:schemeClr val="dk1"/>
              </a:solidFill>
              <a:latin typeface="Helvetica Neue"/>
              <a:ea typeface="Helvetica Neue"/>
              <a:cs typeface="Helvetica Neue"/>
              <a:sym typeface="Helvetica Neue"/>
            </a:endParaRPr>
          </a:p>
        </p:txBody>
      </p:sp>
      <p:pic>
        <p:nvPicPr>
          <p:cNvPr id="149" name="Google Shape;149;p6"/>
          <p:cNvPicPr preferRelativeResize="0"/>
          <p:nvPr/>
        </p:nvPicPr>
        <p:blipFill rotWithShape="1">
          <a:blip r:embed="rId4">
            <a:alphaModFix/>
          </a:blip>
          <a:srcRect b="0" l="0" r="0" t="0"/>
          <a:stretch/>
        </p:blipFill>
        <p:spPr>
          <a:xfrm>
            <a:off x="972233" y="1901704"/>
            <a:ext cx="4700809" cy="3524263"/>
          </a:xfrm>
          <a:prstGeom prst="rect">
            <a:avLst/>
          </a:prstGeom>
          <a:noFill/>
          <a:ln>
            <a:noFill/>
          </a:ln>
        </p:spPr>
      </p:pic>
      <p:pic>
        <p:nvPicPr>
          <p:cNvPr id="150" name="Google Shape;150;p6"/>
          <p:cNvPicPr preferRelativeResize="0"/>
          <p:nvPr/>
        </p:nvPicPr>
        <p:blipFill rotWithShape="1">
          <a:blip r:embed="rId5">
            <a:alphaModFix/>
          </a:blip>
          <a:srcRect b="0" l="0" r="0" t="0"/>
          <a:stretch/>
        </p:blipFill>
        <p:spPr>
          <a:xfrm>
            <a:off x="5895814" y="1889515"/>
            <a:ext cx="4700809" cy="3524263"/>
          </a:xfrm>
          <a:prstGeom prst="rect">
            <a:avLst/>
          </a:prstGeom>
          <a:noFill/>
          <a:ln>
            <a:noFill/>
          </a:ln>
        </p:spPr>
      </p:pic>
      <p:sp>
        <p:nvSpPr>
          <p:cNvPr id="151" name="Google Shape;151;p6"/>
          <p:cNvSpPr txBox="1"/>
          <p:nvPr/>
        </p:nvSpPr>
        <p:spPr>
          <a:xfrm>
            <a:off x="2870522" y="5532539"/>
            <a:ext cx="120097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K_Old = 5</a:t>
            </a:r>
            <a:endParaRPr/>
          </a:p>
        </p:txBody>
      </p:sp>
      <p:sp>
        <p:nvSpPr>
          <p:cNvPr id="152" name="Google Shape;152;p6"/>
          <p:cNvSpPr txBox="1"/>
          <p:nvPr/>
        </p:nvSpPr>
        <p:spPr>
          <a:xfrm>
            <a:off x="7608711" y="5509535"/>
            <a:ext cx="147527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K_Young = 5</a:t>
            </a:r>
            <a:endParaRPr/>
          </a:p>
        </p:txBody>
      </p:sp>
      <p:sp>
        <p:nvSpPr>
          <p:cNvPr id="153" name="Google Shape;153;p6"/>
          <p:cNvSpPr/>
          <p:nvPr/>
        </p:nvSpPr>
        <p:spPr>
          <a:xfrm>
            <a:off x="2753549" y="4048246"/>
            <a:ext cx="533661" cy="523754"/>
          </a:xfrm>
          <a:prstGeom prst="ellipse">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Calibri"/>
              <a:ea typeface="Calibri"/>
              <a:cs typeface="Calibri"/>
              <a:sym typeface="Calibri"/>
            </a:endParaRPr>
          </a:p>
        </p:txBody>
      </p:sp>
      <p:sp>
        <p:nvSpPr>
          <p:cNvPr id="154" name="Google Shape;154;p6"/>
          <p:cNvSpPr/>
          <p:nvPr/>
        </p:nvSpPr>
        <p:spPr>
          <a:xfrm>
            <a:off x="7712557" y="3389769"/>
            <a:ext cx="533661" cy="523754"/>
          </a:xfrm>
          <a:prstGeom prst="ellipse">
            <a:avLst/>
          </a:prstGeom>
          <a:no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00000"/>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161" name="Google Shape;161;p7"/>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62" name="Google Shape;162;p7"/>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63" name="Google Shape;163;p7"/>
          <p:cNvSpPr txBox="1"/>
          <p:nvPr>
            <p:ph idx="1" type="body"/>
          </p:nvPr>
        </p:nvSpPr>
        <p:spPr>
          <a:xfrm>
            <a:off x="838200" y="89805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t>Fractional occupancy = </a:t>
            </a:r>
            <a:r>
              <a:rPr lang="en-US" sz="2000"/>
              <a:t>nr. windows for one state/ total nr. windows)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64" name="Google Shape;1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165" name="Google Shape;165;p7"/>
          <p:cNvSpPr txBox="1"/>
          <p:nvPr/>
        </p:nvSpPr>
        <p:spPr>
          <a:xfrm>
            <a:off x="838200" y="254065"/>
            <a:ext cx="9677400" cy="479611"/>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100000"/>
              </a:lnSpc>
              <a:spcBef>
                <a:spcPts val="0"/>
              </a:spcBef>
              <a:spcAft>
                <a:spcPts val="0"/>
              </a:spcAft>
              <a:buClr>
                <a:srgbClr val="C00000"/>
              </a:buClr>
              <a:buSzPts val="2800"/>
              <a:buFont typeface="Helvetica Neue"/>
              <a:buNone/>
            </a:pPr>
            <a:r>
              <a:rPr b="1" lang="en-US" sz="2800">
                <a:solidFill>
                  <a:srgbClr val="C00000"/>
                </a:solidFill>
                <a:latin typeface="Helvetica Neue"/>
                <a:ea typeface="Helvetica Neue"/>
                <a:cs typeface="Helvetica Neue"/>
                <a:sym typeface="Helvetica Neue"/>
              </a:rPr>
              <a:t>RESULTS Dynamic FC: Fractional occupancy </a:t>
            </a:r>
            <a:endParaRPr sz="2800">
              <a:solidFill>
                <a:schemeClr val="dk1"/>
              </a:solidFill>
              <a:latin typeface="Helvetica Neue"/>
              <a:ea typeface="Helvetica Neue"/>
              <a:cs typeface="Helvetica Neue"/>
              <a:sym typeface="Helvetica Neue"/>
            </a:endParaRPr>
          </a:p>
        </p:txBody>
      </p:sp>
      <p:pic>
        <p:nvPicPr>
          <p:cNvPr descr="A graph of different colored squares&#10;&#10;Description automatically generated" id="166" name="Google Shape;166;p7"/>
          <p:cNvPicPr preferRelativeResize="0"/>
          <p:nvPr/>
        </p:nvPicPr>
        <p:blipFill rotWithShape="1">
          <a:blip r:embed="rId4">
            <a:alphaModFix/>
          </a:blip>
          <a:srcRect b="0" l="0" r="0" t="0"/>
          <a:stretch/>
        </p:blipFill>
        <p:spPr>
          <a:xfrm>
            <a:off x="604998" y="1333844"/>
            <a:ext cx="5491002" cy="4116682"/>
          </a:xfrm>
          <a:prstGeom prst="rect">
            <a:avLst/>
          </a:prstGeom>
          <a:noFill/>
          <a:ln>
            <a:noFill/>
          </a:ln>
        </p:spPr>
      </p:pic>
      <p:pic>
        <p:nvPicPr>
          <p:cNvPr descr="A graph of multiple colored squares&#10;&#10;Description automatically generated" id="167" name="Google Shape;167;p7"/>
          <p:cNvPicPr preferRelativeResize="0"/>
          <p:nvPr/>
        </p:nvPicPr>
        <p:blipFill rotWithShape="1">
          <a:blip r:embed="rId5">
            <a:alphaModFix/>
          </a:blip>
          <a:srcRect b="0" l="0" r="0" t="0"/>
          <a:stretch/>
        </p:blipFill>
        <p:spPr>
          <a:xfrm>
            <a:off x="6020241" y="1297443"/>
            <a:ext cx="5566761" cy="417348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174" name="Google Shape;174;p8"/>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75" name="Google Shape;175;p8"/>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76" name="Google Shape;176;p8"/>
          <p:cNvSpPr txBox="1"/>
          <p:nvPr>
            <p:ph idx="1" type="body"/>
          </p:nvPr>
        </p:nvSpPr>
        <p:spPr>
          <a:xfrm>
            <a:off x="838200" y="1253331"/>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br>
              <a:rPr lang="en-US"/>
            </a:br>
            <a:endParaRPr/>
          </a:p>
          <a:p>
            <a:pPr indent="-50800" lvl="0" marL="228600" rtl="0" algn="l">
              <a:lnSpc>
                <a:spcPct val="90000"/>
              </a:lnSpc>
              <a:spcBef>
                <a:spcPts val="1000"/>
              </a:spcBef>
              <a:spcAft>
                <a:spcPts val="0"/>
              </a:spcAft>
              <a:buClr>
                <a:schemeClr val="dk1"/>
              </a:buClr>
              <a:buSzPts val="2800"/>
              <a:buNone/>
            </a:pPr>
            <a:r>
              <a:t/>
            </a:r>
            <a:endParaRPr/>
          </a:p>
        </p:txBody>
      </p:sp>
      <p:sp>
        <p:nvSpPr>
          <p:cNvPr id="177" name="Google Shape;17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178" name="Google Shape;178;p8"/>
          <p:cNvSpPr txBox="1"/>
          <p:nvPr/>
        </p:nvSpPr>
        <p:spPr>
          <a:xfrm>
            <a:off x="838200" y="254065"/>
            <a:ext cx="9677400" cy="479611"/>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100000"/>
              </a:lnSpc>
              <a:spcBef>
                <a:spcPts val="0"/>
              </a:spcBef>
              <a:spcAft>
                <a:spcPts val="0"/>
              </a:spcAft>
              <a:buClr>
                <a:srgbClr val="C00000"/>
              </a:buClr>
              <a:buSzPts val="2800"/>
              <a:buFont typeface="Helvetica Neue"/>
              <a:buNone/>
            </a:pPr>
            <a:r>
              <a:rPr b="1" lang="en-US" sz="2800">
                <a:solidFill>
                  <a:srgbClr val="C00000"/>
                </a:solidFill>
                <a:latin typeface="Helvetica Neue"/>
                <a:ea typeface="Helvetica Neue"/>
                <a:cs typeface="Helvetica Neue"/>
                <a:sym typeface="Helvetica Neue"/>
              </a:rPr>
              <a:t>RESULTS Dynamic FC: Graph theoretical analysis</a:t>
            </a:r>
            <a:endParaRPr sz="2800">
              <a:solidFill>
                <a:schemeClr val="dk1"/>
              </a:solidFill>
              <a:latin typeface="Helvetica Neue"/>
              <a:ea typeface="Helvetica Neue"/>
              <a:cs typeface="Helvetica Neue"/>
              <a:sym typeface="Helvetica Neue"/>
            </a:endParaRPr>
          </a:p>
        </p:txBody>
      </p:sp>
      <p:pic>
        <p:nvPicPr>
          <p:cNvPr id="179" name="Google Shape;179;p8"/>
          <p:cNvPicPr preferRelativeResize="0"/>
          <p:nvPr/>
        </p:nvPicPr>
        <p:blipFill rotWithShape="1">
          <a:blip r:embed="rId4">
            <a:alphaModFix/>
          </a:blip>
          <a:srcRect b="0" l="0" r="0" t="0"/>
          <a:stretch/>
        </p:blipFill>
        <p:spPr>
          <a:xfrm>
            <a:off x="547787" y="1065874"/>
            <a:ext cx="4610686" cy="3456697"/>
          </a:xfrm>
          <a:prstGeom prst="rect">
            <a:avLst/>
          </a:prstGeom>
          <a:noFill/>
          <a:ln>
            <a:noFill/>
          </a:ln>
        </p:spPr>
      </p:pic>
      <p:pic>
        <p:nvPicPr>
          <p:cNvPr descr="A group of blue dots and numbers&#10;&#10;Description automatically generated" id="180" name="Google Shape;180;p8"/>
          <p:cNvPicPr preferRelativeResize="0"/>
          <p:nvPr/>
        </p:nvPicPr>
        <p:blipFill rotWithShape="1">
          <a:blip r:embed="rId5">
            <a:alphaModFix/>
          </a:blip>
          <a:srcRect b="0" l="0" r="0" t="0"/>
          <a:stretch/>
        </p:blipFill>
        <p:spPr>
          <a:xfrm>
            <a:off x="5564748" y="1065874"/>
            <a:ext cx="4610687" cy="3456698"/>
          </a:xfrm>
          <a:prstGeom prst="rect">
            <a:avLst/>
          </a:prstGeom>
          <a:noFill/>
          <a:ln>
            <a:noFill/>
          </a:ln>
        </p:spPr>
      </p:pic>
      <p:sp>
        <p:nvSpPr>
          <p:cNvPr id="181" name="Google Shape;181;p8"/>
          <p:cNvSpPr txBox="1"/>
          <p:nvPr/>
        </p:nvSpPr>
        <p:spPr>
          <a:xfrm>
            <a:off x="1059100" y="822180"/>
            <a:ext cx="981717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 Adjacent matrix</a:t>
            </a:r>
            <a:r>
              <a:rPr lang="en-US" sz="1800">
                <a:solidFill>
                  <a:schemeClr val="dk1"/>
                </a:solidFill>
                <a:latin typeface="Calibri"/>
                <a:ea typeface="Calibri"/>
                <a:cs typeface="Calibri"/>
                <a:sym typeface="Calibri"/>
              </a:rPr>
              <a:t>: sparse matrices, showing edge connection in graph🡪 illustrate connectivity graphs</a:t>
            </a:r>
            <a:endParaRPr sz="1800">
              <a:solidFill>
                <a:schemeClr val="dk1"/>
              </a:solidFill>
              <a:latin typeface="Calibri"/>
              <a:ea typeface="Calibri"/>
              <a:cs typeface="Calibri"/>
              <a:sym typeface="Calibri"/>
            </a:endParaRPr>
          </a:p>
        </p:txBody>
      </p:sp>
      <p:sp>
        <p:nvSpPr>
          <p:cNvPr id="182" name="Google Shape;182;p8"/>
          <p:cNvSpPr txBox="1"/>
          <p:nvPr/>
        </p:nvSpPr>
        <p:spPr>
          <a:xfrm>
            <a:off x="2545193" y="4332315"/>
            <a:ext cx="61587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Old </a:t>
            </a:r>
            <a:endParaRPr/>
          </a:p>
        </p:txBody>
      </p:sp>
      <p:sp>
        <p:nvSpPr>
          <p:cNvPr id="183" name="Google Shape;183;p8"/>
          <p:cNvSpPr txBox="1"/>
          <p:nvPr/>
        </p:nvSpPr>
        <p:spPr>
          <a:xfrm>
            <a:off x="7540183" y="4240518"/>
            <a:ext cx="89018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Young </a:t>
            </a:r>
            <a:endParaRPr/>
          </a:p>
        </p:txBody>
      </p:sp>
      <p:sp>
        <p:nvSpPr>
          <p:cNvPr id="184" name="Google Shape;184;p8"/>
          <p:cNvSpPr txBox="1"/>
          <p:nvPr/>
        </p:nvSpPr>
        <p:spPr>
          <a:xfrm>
            <a:off x="1059100" y="4818139"/>
            <a:ext cx="10371237"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2. Laplacian matrix: D-A  </a:t>
            </a:r>
            <a:br>
              <a:rPr b="1" lang="en-US" sz="1800">
                <a:solidFill>
                  <a:schemeClr val="dk1"/>
                </a:solidFill>
                <a:latin typeface="Calibri"/>
                <a:ea typeface="Calibri"/>
                <a:cs typeface="Calibri"/>
                <a:sym typeface="Calibri"/>
              </a:rPr>
            </a:br>
            <a:r>
              <a:rPr b="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a:t>
            </a:r>
            <a:r>
              <a:rPr lang="en-US" sz="1600">
                <a:solidFill>
                  <a:schemeClr val="dk1"/>
                </a:solidFill>
                <a:latin typeface="Calibri"/>
                <a:ea typeface="Calibri"/>
                <a:cs typeface="Calibri"/>
                <a:sym typeface="Calibri"/>
              </a:rPr>
              <a:t>combining degree of a node and egde connections to get necessary information about networks’ connections structure</a:t>
            </a:r>
            <a:endParaRPr b="1"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3. Gradient matrix</a:t>
            </a:r>
            <a:r>
              <a:rPr lang="en-US" sz="1800">
                <a:solidFill>
                  <a:schemeClr val="dk1"/>
                </a:solidFill>
                <a:latin typeface="Calibri"/>
                <a:ea typeface="Calibri"/>
                <a:cs typeface="Calibri"/>
                <a:sym typeface="Calibri"/>
              </a:rPr>
              <a:t>: principal eigenvectors corr. lowest eigenvalue 🡪 how nodes can be grouped toegether</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191" name="Google Shape;191;p9"/>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92" name="Google Shape;192;p9"/>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193" name="Google Shape;193;p9"/>
          <p:cNvSpPr txBox="1"/>
          <p:nvPr>
            <p:ph idx="1" type="body"/>
          </p:nvPr>
        </p:nvSpPr>
        <p:spPr>
          <a:xfrm>
            <a:off x="838200" y="887633"/>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K_Old equal to K_Young</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800"/>
              <a:buNone/>
            </a:pPr>
            <a:br>
              <a:rPr lang="en-US"/>
            </a:br>
            <a:endParaRPr/>
          </a:p>
          <a:p>
            <a:pPr indent="-50800" lvl="0" marL="228600" rtl="0" algn="l">
              <a:lnSpc>
                <a:spcPct val="90000"/>
              </a:lnSpc>
              <a:spcBef>
                <a:spcPts val="1000"/>
              </a:spcBef>
              <a:spcAft>
                <a:spcPts val="0"/>
              </a:spcAft>
              <a:buClr>
                <a:schemeClr val="dk1"/>
              </a:buClr>
              <a:buSzPts val="2800"/>
              <a:buNone/>
            </a:pPr>
            <a:r>
              <a:t/>
            </a:r>
            <a:endParaRPr/>
          </a:p>
        </p:txBody>
      </p:sp>
      <p:sp>
        <p:nvSpPr>
          <p:cNvPr id="194" name="Google Shape;19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195" name="Google Shape;195;p9"/>
          <p:cNvSpPr txBox="1"/>
          <p:nvPr/>
        </p:nvSpPr>
        <p:spPr>
          <a:xfrm>
            <a:off x="838200" y="254065"/>
            <a:ext cx="9677400" cy="479611"/>
          </a:xfrm>
          <a:prstGeom prst="rect">
            <a:avLst/>
          </a:prstGeom>
          <a:noFill/>
          <a:ln>
            <a:noFill/>
          </a:ln>
        </p:spPr>
        <p:txBody>
          <a:bodyPr anchorCtr="0" anchor="ctr" bIns="45700" lIns="91425" spcFirstLastPara="1" rIns="91425" wrap="square" tIns="45700">
            <a:normAutofit fontScale="85000" lnSpcReduction="10000"/>
          </a:bodyPr>
          <a:lstStyle/>
          <a:p>
            <a:pPr indent="0" lvl="0" marL="0" marR="0" rtl="0" algn="l">
              <a:lnSpc>
                <a:spcPct val="100000"/>
              </a:lnSpc>
              <a:spcBef>
                <a:spcPts val="0"/>
              </a:spcBef>
              <a:spcAft>
                <a:spcPts val="0"/>
              </a:spcAft>
              <a:buClr>
                <a:srgbClr val="C00000"/>
              </a:buClr>
              <a:buSzPct val="100000"/>
              <a:buFont typeface="Helvetica Neue"/>
              <a:buNone/>
            </a:pPr>
            <a:r>
              <a:rPr b="1" lang="en-US" sz="2800">
                <a:solidFill>
                  <a:srgbClr val="C00000"/>
                </a:solidFill>
                <a:latin typeface="Helvetica Neue"/>
                <a:ea typeface="Helvetica Neue"/>
                <a:cs typeface="Helvetica Neue"/>
                <a:sym typeface="Helvetica Neue"/>
              </a:rPr>
              <a:t>RESULTS Dynamic FC: Comparison between old and young HC</a:t>
            </a:r>
            <a:endParaRPr sz="2800">
              <a:solidFill>
                <a:schemeClr val="dk1"/>
              </a:solidFill>
              <a:latin typeface="Helvetica Neue"/>
              <a:ea typeface="Helvetica Neue"/>
              <a:cs typeface="Helvetica Neue"/>
              <a:sym typeface="Helvetica Neue"/>
            </a:endParaRPr>
          </a:p>
        </p:txBody>
      </p:sp>
      <p:pic>
        <p:nvPicPr>
          <p:cNvPr descr="A chart of different colors&#10;&#10;Description automatically generated with medium confidence" id="196" name="Google Shape;196;p9"/>
          <p:cNvPicPr preferRelativeResize="0"/>
          <p:nvPr/>
        </p:nvPicPr>
        <p:blipFill rotWithShape="1">
          <a:blip r:embed="rId4">
            <a:alphaModFix/>
          </a:blip>
          <a:srcRect b="0" l="0" r="0" t="0"/>
          <a:stretch/>
        </p:blipFill>
        <p:spPr>
          <a:xfrm>
            <a:off x="445749" y="1279741"/>
            <a:ext cx="5735001" cy="4211015"/>
          </a:xfrm>
          <a:prstGeom prst="rect">
            <a:avLst/>
          </a:prstGeom>
          <a:noFill/>
          <a:ln>
            <a:noFill/>
          </a:ln>
        </p:spPr>
      </p:pic>
      <p:sp>
        <p:nvSpPr>
          <p:cNvPr id="197" name="Google Shape;197;p9"/>
          <p:cNvSpPr txBox="1"/>
          <p:nvPr/>
        </p:nvSpPr>
        <p:spPr>
          <a:xfrm>
            <a:off x="838200" y="5655138"/>
            <a:ext cx="5235664" cy="369332"/>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State 2 of old HC resembles youngs states the least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p:nvPr/>
        </p:nvSpPr>
        <p:spPr>
          <a:xfrm>
            <a:off x="838200" y="6333110"/>
            <a:ext cx="83204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400">
                <a:solidFill>
                  <a:schemeClr val="dk1"/>
                </a:solidFill>
                <a:latin typeface="Calibri"/>
                <a:ea typeface="Calibri"/>
                <a:cs typeface="Calibri"/>
                <a:sym typeface="Calibri"/>
              </a:rPr>
              <a:t>Vernikos and Schneider, Gerontology, 2009	Mhatre et al., Neuroscience and Biobehavioral Reviews, 2022</a:t>
            </a:r>
            <a:endParaRPr i="1"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i="1" sz="1400">
              <a:solidFill>
                <a:schemeClr val="dk1"/>
              </a:solidFill>
              <a:latin typeface="Calibri"/>
              <a:ea typeface="Calibri"/>
              <a:cs typeface="Calibri"/>
              <a:sym typeface="Calibri"/>
            </a:endParaRPr>
          </a:p>
        </p:txBody>
      </p:sp>
      <p:sp>
        <p:nvSpPr>
          <p:cNvPr id="204" name="Google Shape;204;p10"/>
          <p:cNvSpPr/>
          <p:nvPr/>
        </p:nvSpPr>
        <p:spPr>
          <a:xfrm>
            <a:off x="5158" y="6168728"/>
            <a:ext cx="12186842" cy="707200"/>
          </a:xfrm>
          <a:prstGeom prst="rect">
            <a:avLst/>
          </a:prstGeom>
          <a:solidFill>
            <a:srgbClr val="B3071B"/>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205" name="Google Shape;205;p10"/>
          <p:cNvPicPr preferRelativeResize="0"/>
          <p:nvPr/>
        </p:nvPicPr>
        <p:blipFill rotWithShape="1">
          <a:blip r:embed="rId3">
            <a:alphaModFix/>
          </a:blip>
          <a:srcRect b="0" l="0" r="0" t="0"/>
          <a:stretch/>
        </p:blipFill>
        <p:spPr>
          <a:xfrm>
            <a:off x="206713" y="6215054"/>
            <a:ext cx="1262974" cy="564326"/>
          </a:xfrm>
          <a:prstGeom prst="rect">
            <a:avLst/>
          </a:prstGeom>
          <a:noFill/>
          <a:ln>
            <a:noFill/>
          </a:ln>
        </p:spPr>
      </p:pic>
      <p:sp>
        <p:nvSpPr>
          <p:cNvPr id="206" name="Google Shape;206;p10"/>
          <p:cNvSpPr txBox="1"/>
          <p:nvPr>
            <p:ph idx="1" type="body"/>
          </p:nvPr>
        </p:nvSpPr>
        <p:spPr>
          <a:xfrm>
            <a:off x="838200" y="1094801"/>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Differences in  FCs bewteen subjects and HC:</a:t>
            </a:r>
            <a:br>
              <a:rPr lang="en-US"/>
            </a:br>
            <a:r>
              <a:rPr lang="en-US"/>
              <a:t>Differences in amount brain cells and connections likely, especially between the groups (higher age 🡪 less brain cells)</a:t>
            </a:r>
            <a:endParaRPr/>
          </a:p>
          <a:p>
            <a:pPr indent="-228600" lvl="0" marL="228600" rtl="0" algn="l">
              <a:lnSpc>
                <a:spcPct val="90000"/>
              </a:lnSpc>
              <a:spcBef>
                <a:spcPts val="2200"/>
              </a:spcBef>
              <a:spcAft>
                <a:spcPts val="0"/>
              </a:spcAft>
              <a:buClr>
                <a:schemeClr val="dk1"/>
              </a:buClr>
              <a:buSzPts val="2800"/>
              <a:buChar char="•"/>
            </a:pPr>
            <a:r>
              <a:rPr lang="en-US"/>
              <a:t>Differences in fractional occupancy</a:t>
            </a:r>
            <a:endParaRPr/>
          </a:p>
          <a:p>
            <a:pPr indent="-228600" lvl="0" marL="228600" rtl="0" algn="l">
              <a:lnSpc>
                <a:spcPct val="90000"/>
              </a:lnSpc>
              <a:spcBef>
                <a:spcPts val="2200"/>
              </a:spcBef>
              <a:spcAft>
                <a:spcPts val="0"/>
              </a:spcAft>
              <a:buClr>
                <a:schemeClr val="dk1"/>
              </a:buClr>
              <a:buSzPts val="2800"/>
              <a:buChar char="•"/>
            </a:pPr>
            <a:r>
              <a:rPr lang="en-US"/>
              <a:t>Node connections differently</a:t>
            </a:r>
            <a:endParaRPr/>
          </a:p>
          <a:p>
            <a:pPr indent="-228600" lvl="0" marL="228600" rtl="0" algn="l">
              <a:lnSpc>
                <a:spcPct val="90000"/>
              </a:lnSpc>
              <a:spcBef>
                <a:spcPts val="2200"/>
              </a:spcBef>
              <a:spcAft>
                <a:spcPts val="0"/>
              </a:spcAft>
              <a:buClr>
                <a:schemeClr val="dk1"/>
              </a:buClr>
              <a:buSzPts val="2800"/>
              <a:buChar char="•"/>
            </a:pPr>
            <a:r>
              <a:rPr lang="en-US"/>
              <a:t>K_Old equal to K_Young</a:t>
            </a:r>
            <a:endParaRPr/>
          </a:p>
          <a:p>
            <a:pPr indent="-228600" lvl="0" marL="228600" rtl="0" algn="l">
              <a:lnSpc>
                <a:spcPct val="90000"/>
              </a:lnSpc>
              <a:spcBef>
                <a:spcPts val="2200"/>
              </a:spcBef>
              <a:spcAft>
                <a:spcPts val="0"/>
              </a:spcAft>
              <a:buClr>
                <a:schemeClr val="dk1"/>
              </a:buClr>
              <a:buSzPts val="2800"/>
              <a:buChar char="•"/>
            </a:pPr>
            <a:r>
              <a:rPr lang="en-US"/>
              <a:t>State 2 of old HC resembles youngs states the least</a:t>
            </a:r>
            <a:endParaRPr/>
          </a:p>
          <a:p>
            <a:pPr indent="-50800" lvl="0" marL="228600" rtl="0" algn="l">
              <a:lnSpc>
                <a:spcPct val="90000"/>
              </a:lnSpc>
              <a:spcBef>
                <a:spcPts val="22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07" name="Google Shape;20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
        <p:nvSpPr>
          <p:cNvPr id="208" name="Google Shape;208;p10"/>
          <p:cNvSpPr txBox="1"/>
          <p:nvPr/>
        </p:nvSpPr>
        <p:spPr>
          <a:xfrm>
            <a:off x="838200" y="254065"/>
            <a:ext cx="9677400" cy="479611"/>
          </a:xfrm>
          <a:prstGeom prst="rect">
            <a:avLst/>
          </a:prstGeom>
          <a:noFill/>
          <a:ln>
            <a:noFill/>
          </a:ln>
        </p:spPr>
        <p:txBody>
          <a:bodyPr anchorCtr="0" anchor="ctr" bIns="45700" lIns="91425" spcFirstLastPara="1" rIns="91425" wrap="square" tIns="45700">
            <a:normAutofit lnSpcReduction="10000"/>
          </a:bodyPr>
          <a:lstStyle/>
          <a:p>
            <a:pPr indent="0" lvl="0" marL="0" marR="0" rtl="0" algn="l">
              <a:lnSpc>
                <a:spcPct val="100000"/>
              </a:lnSpc>
              <a:spcBef>
                <a:spcPts val="0"/>
              </a:spcBef>
              <a:spcAft>
                <a:spcPts val="0"/>
              </a:spcAft>
              <a:buClr>
                <a:srgbClr val="C00000"/>
              </a:buClr>
              <a:buSzPts val="2800"/>
              <a:buFont typeface="Helvetica Neue"/>
              <a:buNone/>
            </a:pPr>
            <a:r>
              <a:rPr b="1" lang="en-US" sz="2800">
                <a:solidFill>
                  <a:srgbClr val="C00000"/>
                </a:solidFill>
                <a:latin typeface="Helvetica Neue"/>
                <a:ea typeface="Helvetica Neue"/>
                <a:cs typeface="Helvetica Neue"/>
                <a:sym typeface="Helvetica Neue"/>
              </a:rPr>
              <a:t>CONCLUSION </a:t>
            </a:r>
            <a:endParaRPr sz="2800">
              <a:solidFill>
                <a:schemeClr val="dk1"/>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2023-09-29T06:35:11Z</dcterms:created>
  <dc:creator>Marino Marco</dc:creator>
</cp:coreProperties>
</file>